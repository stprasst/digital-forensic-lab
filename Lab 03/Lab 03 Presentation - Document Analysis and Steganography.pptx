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Welcome to Lab 03. The premise: the most ordinary files in an organization - documents, photos, audio - carry hidden layers: metadata, macros, steganography. Students leave able to take an Office file apart as a ZIP, triage a macro without running it, and chase hidden messages through pixels and spectrograms. Distribute the working paper BEFORE the session so pre-lab 1.4 is done. Budget about 90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stops. Contract for the session: Challenge A (the upstream trio) is solved together in the Deep Dive; Challenges B and C are solo and graded. Poll: who has ever enabled macros on a strange file? Be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Framing slide. Before revealing the cards, ask: 'when you email me a CV, what else rides along?' Collect answers, then map them onto the four layers. The visible layer is usually the least interesting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OLE vs OOXML. The 2007 switch is the pivot: everything after it is a ZIP. Live demo if possible: rename a .docx to .zip in front of them - it never fails to land. Point at the key-idea paragraph.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unzip workflow. Habits from slide one: work on a copy, list before extracting, extract to a named folder. Hidden text stays in the XML even though Word never shows it - that sentence is the seed of Challenge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Reference table - do not read every row. Highlight the four with investigator questions: document.xml (hidden text), rels (phone-home), vbaProject.bin (code), core.xml (author). The rest is their cheat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exiftool. This output is FROM the actual lab image (image1.jpg) - the Artist and GPS values are the real thing students must find in Challenge A. Drill the DMS-to-decimal formula once on the board: degrees + minutes/60 + seconds/3600.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Macro documents. AutoOpen fires on open - no click needed beyond Enable Content. Shell/WScript.Shell is the giveaway keyword. Stress: macros are stored COMPILED in vbaProject.bin, so a text editor on the docx shows nothing - you need olevba.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oletools. The workflow is always oleid THEN olevba - triage before deep dive. Read the oleid indicators table like a checklist: format, encryption, macros, external rels. olevba's keyword analysis is the multiplier: AutoExec plus Shell plus encoded strings equals deep dive.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Steganography concept. Cryptography hides the content, steganography hides the EXISTENCE. The Herodotus story is 2500 years old; the 2018 Twitter memes (Stegoloader) make it current. Ask: why would an insider choose stego over encryption?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PNG LSB. The binary line at the bottom is the whole trick: flipping the last bit of each channel changes color by 1 of 256 - invisible. zsteg's output here is the real starry_night result; the '148:' prefix is a length marker (that detail returns in analysis Q9).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JPEG and steghide. Why different: JPEG re-encodes on save and kills LSBs, so steghide swaps DCT coefficient pairs. Practical tip that saves minutes: try the EMPTY passphrase first - most teaching samples use one. exiftool first: metadata often holds the hint.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Audio. The four steps are deliberately dull - the payoff is visual. If Audacity is installed, generate a 1000 Hz tone and switch to spectrogram live; a flat line, then a chirp, and they can read drawn text. sox is the headless alternative for scripts.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Toolbox slide. All Linux-side: pip for oletools, gem for zsteg, apt for the rest. If the class runs Windows hosts, this is the session to get the Kali VM out - steghide simply does not exist on Windows.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challenges. A: the upstream trio (docm, pptx, wav) - solved together in the Deep Dive. B: a cover letter that looks clean on screen. C: a harbor photo whose metadata says nothing to see. Flags ctf{xxxx}; A keeps upstream format. Staged hints live in working paper section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Evidence discipline variant: number every exhibit, hash before and after, and NEVER click Enable Content on evidence - reading is analyzing, running is destroying. Show the model exhibit in Appendix B of the working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Recap by asking the class to produce each takeaway before revealing. The four lines: docx is a ZIP, macros are code not content, metadata convicts, stego hides in the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Close: clone the repo, preview Lab 04. Collect working papers. Remind: spectrogram screenshot for Challenge A part 3 is a deliverable, not an 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4206240" cy="4206240"/>
          </a:xfrm>
          <a:prstGeom prst="ellipse">
            <a:avLst/>
          </a:prstGeom>
          <a:solidFill>
            <a:srgbClr val="14324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657600" cy="3657600"/>
          </a:xfrm>
          <a:prstGeom prst="ellipse">
            <a:avLst/>
          </a:prstGeom>
          <a:solidFill>
            <a:srgbClr val="1230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7D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FORENSICS LABORATORY  ·  MODULE 03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Analysis</a:t>
            </a:r>
            <a:endParaRPr lang="en-US" sz="5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Steganography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 files  ·  metadata  ·  macros  ·  hidden messages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955280" y="4160520"/>
            <a:ext cx="3657600" cy="1783080"/>
          </a:xfrm>
          <a:prstGeom prst="roundRect">
            <a:avLst>
              <a:gd name="adj" fmla="val 4615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138160" y="430682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9" name="Shape 7"/>
          <p:cNvSpPr/>
          <p:nvPr/>
        </p:nvSpPr>
        <p:spPr>
          <a:xfrm>
            <a:off x="8357616" y="430682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0" name="Shape 8"/>
          <p:cNvSpPr/>
          <p:nvPr/>
        </p:nvSpPr>
        <p:spPr>
          <a:xfrm>
            <a:off x="8577072" y="430682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0" y="42519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student@dfir:~/lab03$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11312" y="4544568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olevba YearlyBonus.docm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VBA MACRO ThisDocument.cls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zsteg starry_night.png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b1,rgb,lsb,xy .. text: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58978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Stefanus Eko Prasetyo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Lab-3  ·  hands-on session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03 · SESSION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Today's roadmap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83664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7922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Documents as evidence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7627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 file carries beyond what you see on screen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64992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32735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 file formats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36576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OLE vs OOXML - and why a docx is secretly a ZIP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4754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Metadata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513892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exiftool: authors, timestamps, and GPS coordinates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1883664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0" y="17922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Macros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0" y="217627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oletools: detecting and reading VBA payloads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3364992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0" y="32735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Steganography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58000" y="36576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PNG least-significant bits, JPEG steghide, audio spectrograms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4846320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58000" y="4754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 &amp; working paper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58000" y="513892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upstream cases + two new challenges + documentation rules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file is a layered witness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see is one layer. A document also carries </a:t>
            </a:r>
            <a:pPr indent="0" marL="0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metadata, embedded code, and hidden payloads</a:t>
            </a:r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- and in a forensic setting, those layers often matter more than the visible text.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306324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Visible layer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3447288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letter, the slide, the photo - what the author meant you to see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288036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6248" y="306324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Metadata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56248" y="3447288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creator, editing time, GPS of the camera - what the software recorded for free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" y="466344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Embedded code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41248" y="5047488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VBA macros that run on open - the classic phishing payload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448056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56248" y="466344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Hidden payloads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56248" y="5047488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steganography: secrets folded into pixels, coefficients, or frequencies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 FORMATS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OLE vs OOXML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297680"/>
                <a:gridCol w="505663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OLE (1997-2003)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OOXML (2007-now)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Extensions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.doc  .ppt  .xls  .rtf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.docx  .pptx  .xlsx  (+m for macros)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Structure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binary 'file within a file' container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ZIP archive of XML parts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 with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oletools, structured parsers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unzip + any text/XML tool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Forensic angle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macros in binary VBA streams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everything is inspectable - text, rels, props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091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idea: an OOXML file is a ZIP. Rename report.docx to report.zip, extract, and read the document as text - no Office license, no risk of executing anything.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OOXML ·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docx is a ZIP - open it like one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student@dfir:~/lab03$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172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cp Doc1.docx work/ &amp;&amp; cd work        # work on a copy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unzip Doc1.docx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inflating: [Content_Types].xml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inflating: _rels/.rels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inflating: word/document.xml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inflating: word/_rels/document.xml.rels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inflating: docProps/core.xml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inflating: docProps/app.xml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inflating: word/styles.xml  word/settings.xml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visible text lives in word/document.xml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3524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investigators care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35240" y="2359152"/>
            <a:ext cx="3977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macros execute while you unzip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hidden text stays in the XML even if Word does not show it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timestamps and author survive in docProps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grep works: strings, grep, xmllint - the whole Linux toolbox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OOXML ·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parts that matter to us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297680"/>
                <a:gridCol w="395935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Holds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Investigator's question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docProps/core.xml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title, author, created/modified dates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who wrote it, and when?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docProps/app.xml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application, template, company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software produced it?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word/document.xml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actual text - including HIDDEN text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 there more than we can see?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word/_rels/*.rels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relationships: styles, images, EXTERNAL links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does it phone home?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word/vbaProject.bin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compiled VBA macros (.docm/.xlsm/.pptm)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code runs on open?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exiftool — the metadata goldmine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student@dfir:~/lab03$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172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exiftool image1.jpg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Artist           : Michael Scott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Software         : Picasa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Date/Time Original: 2013:04:27 15:32:09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GPS Position     : 34 deg 12' 39.00" N,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118 deg 26' 11.00" W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exiftool -gps:all -a image1.jpg   # just GPS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34.2109, -118.4364 -&gt; Burbank, Los Angeles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3524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metadata answers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35240" y="2359152"/>
            <a:ext cx="3977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made it - Author, Artist, Creator fields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- created vs modified (backdating leaves gaps)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- GPS latitude/longitude from cameras and phones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 on images, audio, video, AND Office files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MACROS ·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Macro-enabled documents (.docm)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macro is a program inside the document. Attackers love it because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click on 'Enable Content' executes their code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the user's privileges.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706831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Auto-run hook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When it fires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AutoOpen() / Document_Open()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when the document is OPENED in Word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AutoClose() / Document_Close()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when it is closed - wipes tracks after exfiltration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Workbook_Open()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Excel's version, on spreadsheet open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Shell / WScript.Shell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classic giveaway: launching external processes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2120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Macros are stored compiled in word/vbaProject.bin - you need a VBA parser to read them, not a text editor.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MACROS ·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oletools: oleid first, then olevba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student@dfir:~/lab03$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172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-H pip install -U oletools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oleid HelloWorld.docm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format    : MS Word 2007+ Macro-Enabled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Encrypted      : False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VBA Macros     : Yes    Risk: Medium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External Relationships : 0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olevba HelloWorld.docm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VBA MACRO NewMacros.bas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 HelloWorld() ... ' full source code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3524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order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35240" y="2359152"/>
            <a:ext cx="3977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oleid = triage: format, encryption, macros, external rels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olevba = extraction: full VBA source + suspicious keywords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olevba flags IOC keywords: Shell, CreateObject, Hex strings...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mraptor: quick verdict if a macro is malicious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STEGANOGRAPHY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Hidden writing - and why we chase it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Cryptography scrambles a message so it cannot be read; steganography hides it so it cannot be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seen to exist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The carrier looks completely innocent.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97180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440 BC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3355848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Herodotus: a message tattooed on a shaved scalp, revealed when the hair grew back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278892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6248" y="297180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Invisible ink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56248" y="3355848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lemon juice on paper, revealed by heat - the classroom classic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38912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" y="457200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Malicious memes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41248" y="4956048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2018: Stegoloader malware fetched commands hidden in Twitter images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438912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56248" y="457200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Forensic stakes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56248" y="4956048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exfiltrated data and C2 channels can ride inside cat photos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STEGO ·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PNG — messages in the least significant bit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student@dfir:~/lab03$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172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zsteg starry_night.png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b1,rgb,lsb,xy  .. text: "148:The fishermen know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that the sea is dangerous and the storm terrible,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but they have never found these dangers sufficient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reason for remaining ashore."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b2,r,lsb,xy     .. file: OpenPGP Public Key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pixel (200,50): R=52 G=171 B=226 -&gt; 110100 10 101010 11 111000 10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flip the final bit of each channel: invisible to the eye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3524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zsteg output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35240" y="2359152"/>
            <a:ext cx="3977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b1 = bit plane 1 (the LSB); rgb = channels scanned; xy = row-major order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zsteg brute-forces many plane/channel combinations at once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PNG is lossless - LSBs survive saving intact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install: sudo gem install zsteg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STEGO ·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JPEG — steghide and the pair-swapping trick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student@dfir:~/lab03$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172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hide a secret (attacker side)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steghide embed -cf cover.jpg -ef secret.txt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passphrase: ********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extract (investigator side)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steghide extract -sf cover.jpg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passphrase: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wrote extracted data to "secret.txt".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try an EMPTY passphrase first - many samples use one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3524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JPEG differs from PNG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35240" y="2359152"/>
            <a:ext cx="3977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JPEG is lossy - re-encoding destroys LSBs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steghide swaps DCT coefficient pairs instead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 often needs a passphrase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 with exiftool: metadata may hold the hint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AUDIO STEGO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Spectrograms — reading sound as a picture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spectrogram plots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frequency (vertical) against time (horizontal)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If someone 'draws' with specific frequencies, the drawing becomes readable text.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80720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.wav in Audacity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547872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5204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the track's drop-down menu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48640" y="4261104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42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42336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Spectrogram view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4974336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494690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bright shapes - they spell the message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92240" y="2788920"/>
            <a:ext cx="5120640" cy="2834640"/>
          </a:xfrm>
          <a:prstGeom prst="roundRect">
            <a:avLst>
              <a:gd name="adj" fmla="val 2903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75120" y="293522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19" name="Shape 17"/>
          <p:cNvSpPr/>
          <p:nvPr/>
        </p:nvSpPr>
        <p:spPr>
          <a:xfrm>
            <a:off x="6894576" y="293522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0" name="Shape 18"/>
          <p:cNvSpPr/>
          <p:nvPr/>
        </p:nvSpPr>
        <p:spPr>
          <a:xfrm>
            <a:off x="7114032" y="293522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21" name="Text 19"/>
          <p:cNvSpPr/>
          <p:nvPr/>
        </p:nvSpPr>
        <p:spPr>
          <a:xfrm>
            <a:off x="7406640" y="288036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student@dfir:~/lab03$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48272" y="3172968"/>
            <a:ext cx="4617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alternate route: render it yourself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sox super_secret_audio.wav -n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spectrogram -o spec.png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eog spec.png      # then just read it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LSB audio stego also exists - spectrogram first,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bit-plane tools second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TOOLKIT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document &amp; stego toolbox</a:t>
            </a:r>
            <a:endParaRPr lang="en-US" sz="3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126480"/>
                <a:gridCol w="350215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Install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oleid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triage an Office file: format, encryption, macros, external rels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pip install oletools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olevba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extract full VBA source + suspicious keyword analysis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pip install oletools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exiftool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read/write metadata: author, dates, GPS - images, audio, docs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apt install libimage-exiftool-perl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zsteg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detect PNG LSB steganography (bit planes, channels, orders)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gem install zsteg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steghide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embed/extract in JPEG, BMP, WAV (DCT pair swapping)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apt install steghide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Audacity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visualize audio spectrograms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apt install audacity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challenges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201168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" y="238658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upstream case files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04672" y="27889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YearlyBonus.docm + Presentation.pptx + .wav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4672" y="3355848"/>
            <a:ext cx="3054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 a macro's secret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unmask a mole via metadata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a spectrogram flag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solved together in the Deep Dive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52578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the original lab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11396" y="178308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67428" y="201168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B — new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67428" y="238658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cover_letter.docx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67428" y="27889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files/cover_letter.docx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67428" y="3355848"/>
            <a:ext cx="3054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job application arrives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looks clean on screen...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XML tells a longer story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OOXML: parts, rels, hidden 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67428" y="52578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hidden text hunt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4152" y="178308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30184" y="201168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C — new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238658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harbor_photo.png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30184" y="27889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files/harbor_photo.png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330184" y="3355848"/>
            <a:ext cx="3054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stock harbor photo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metadata says 'nothing here'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zsteg disagrees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recover the drop-note and flag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30184" y="52578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LSB hunt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 format:  </a:t>
            </a:r>
            <a:pPr indent="0" marL="0">
              <a:buNone/>
            </a:pPr>
            <a:r>
              <a:rPr lang="en-US" sz="1400" dirty="0">
                <a:solidFill>
                  <a:srgbClr val="16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ctf{xxxx}</a:t>
            </a:r>
            <a:pPr indent="0" marL="0">
              <a:buNone/>
            </a:pPr>
            <a:r>
              <a:rPr lang="en-US" sz="14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(Challenge A keeps the upstream flag format)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DISCIPLINE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paper &amp; evidence rules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Pre-lab first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0574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1.4 of the working paper, before the session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57860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on copies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89864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 the docm/pptx/png into a work folder - never open originals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47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41985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'Enable Content'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73989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analyzing a macro file means reading it, not running it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06824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88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26110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 your evidence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458114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screenshots and outputs get B-01, B-02, C-01 in the evidence log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148072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129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510235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 what you touch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542239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integrity form before and after analysis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60920" y="1920240"/>
            <a:ext cx="4251960" cy="2286000"/>
          </a:xfrm>
          <a:prstGeom prst="roundRect">
            <a:avLst>
              <a:gd name="adj" fmla="val 3600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43800" y="206654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26" name="Shape 24"/>
          <p:cNvSpPr/>
          <p:nvPr/>
        </p:nvSpPr>
        <p:spPr>
          <a:xfrm>
            <a:off x="7763256" y="206654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7" name="Shape 25"/>
          <p:cNvSpPr/>
          <p:nvPr/>
        </p:nvSpPr>
        <p:spPr>
          <a:xfrm>
            <a:off x="7982712" y="206654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28" name="Text 26"/>
          <p:cNvSpPr/>
          <p:nvPr/>
        </p:nvSpPr>
        <p:spPr>
          <a:xfrm>
            <a:off x="8275320" y="201168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student@dfir:~/lab03$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16952" y="23042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evidence log entry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[B-03] 2026-10-07 09:41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grep -o 'vanish' document.xml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6 hidden runs found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text hidden from screen view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360920" y="4480560"/>
            <a:ext cx="4251960" cy="1234440"/>
          </a:xfrm>
          <a:prstGeom prst="roundRect">
            <a:avLst>
              <a:gd name="adj" fmla="val 6667"/>
            </a:avLst>
          </a:prstGeom>
          <a:solidFill>
            <a:srgbClr val="134B56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35240" y="464515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evidence, no answer.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635240" y="510235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6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claim must trace back to a numbered exhibit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7D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31673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135331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docx is a ZIP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600200" y="17556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unzip it, grep it, read the XML - hidden text and metadata included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52374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00200" y="256032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Macros are code, not content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600200" y="296265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oleid to triage, olevba to read - never 'Enable Content' on evidence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373075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00200" y="376732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Metadata convicts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600200" y="416966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exiftool turns Artist fields and GPS tags into names and places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4937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00200" y="4974336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Stego hides in the noise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600200" y="53766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zsteg for PNG LSBs, steghide for JPEG, spectrograms for audio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480560"/>
            <a:ext cx="4023360" cy="4023360"/>
          </a:xfrm>
          <a:prstGeom prst="ellipse">
            <a:avLst/>
          </a:prstGeom>
          <a:solidFill>
            <a:srgbClr val="1432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file. Read the layers.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291840"/>
            <a:ext cx="7498080" cy="1920240"/>
          </a:xfrm>
          <a:prstGeom prst="roundRect">
            <a:avLst>
              <a:gd name="adj" fmla="val 4286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343814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343814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343814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33832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student@dfir:~/lab03$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3675888"/>
            <a:ext cx="6995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https://github.com/stprasst/digital-forensic-lab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digital-forensic-lab/Lab\ 03/files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YearlyBonus.docm  Presentation.pptx  super_secret_audio.wav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starry_night.png  cover_letter.docx  harbor_photo.png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D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  </a:t>
            </a:r>
            <a:pPr indent="0" marL="0">
              <a:buNone/>
            </a:pPr>
            <a:r>
              <a:rPr lang="en-US" sz="15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Stefanus Eko Prasetyo  ·  Digital Forensics Laboratory  ·  Lab-3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03 - Document Analysis and Steganography</dc:title>
  <dc:subject>PptxGenJS Presentation</dc:subject>
  <dc:creator>Stefanus Eko Prasetyo</dc:creator>
  <cp:lastModifiedBy>Stefanus Eko Prasetyo</cp:lastModifiedBy>
  <cp:revision>1</cp:revision>
  <dcterms:created xsi:type="dcterms:W3CDTF">2026-09-28T12:04:11Z</dcterms:created>
  <dcterms:modified xsi:type="dcterms:W3CDTF">2026-09-28T12:04:11Z</dcterms:modified>
</cp:coreProperties>
</file>