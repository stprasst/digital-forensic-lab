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7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F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645920"/>
            <a:ext cx="4206240" cy="4206240"/>
          </a:xfrm>
          <a:prstGeom prst="ellipse">
            <a:avLst/>
          </a:prstGeom>
          <a:solidFill>
            <a:srgbClr val="14324A"/>
          </a:solidFill>
          <a:ln/>
        </p:spPr>
      </p:sp>
      <p:sp>
        <p:nvSpPr>
          <p:cNvPr id="3" name="Shape 1"/>
          <p:cNvSpPr/>
          <p:nvPr/>
        </p:nvSpPr>
        <p:spPr>
          <a:xfrm>
            <a:off x="-1463040" y="5120640"/>
            <a:ext cx="3657600" cy="3657600"/>
          </a:xfrm>
          <a:prstGeom prst="ellipse">
            <a:avLst/>
          </a:prstGeom>
          <a:solidFill>
            <a:srgbClr val="12304A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051560"/>
            <a:ext cx="7680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300" kern="0" dirty="0">
                <a:solidFill>
                  <a:srgbClr val="37DC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FORENSICS LABORATORY  ·  MODULE 01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548640" y="1481328"/>
            <a:ext cx="7223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Introduction to</a:t>
            </a:r>
            <a:endParaRPr lang="en-US" sz="5400" dirty="0"/>
          </a:p>
          <a:p>
            <a:pPr indent="0" marL="0">
              <a:lnSpc>
                <a:spcPct val="102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Digital Forensics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548640" y="3703320"/>
            <a:ext cx="6949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DCE9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Linux command-line foundations  ·  evidence hashing  ·  file signatures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7635240" y="4206240"/>
            <a:ext cx="3977640" cy="1737360"/>
          </a:xfrm>
          <a:prstGeom prst="roundRect">
            <a:avLst>
              <a:gd name="adj" fmla="val 4737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818120" y="435254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9" name="Shape 7"/>
          <p:cNvSpPr/>
          <p:nvPr/>
        </p:nvSpPr>
        <p:spPr>
          <a:xfrm>
            <a:off x="8037576" y="435254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10" name="Shape 8"/>
          <p:cNvSpPr/>
          <p:nvPr/>
        </p:nvSpPr>
        <p:spPr>
          <a:xfrm>
            <a:off x="8257032" y="435254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11" name="Text 9"/>
          <p:cNvSpPr/>
          <p:nvPr/>
        </p:nvSpPr>
        <p:spPr>
          <a:xfrm>
            <a:off x="8549640" y="429768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891272" y="4590288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whoami</a:t>
            </a:r>
            <a:endParaRPr lang="en-US" sz="125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forensic-analyst</a:t>
            </a:r>
            <a:endParaRPr lang="en-US" sz="125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"every trace tells a story"</a:t>
            </a:r>
            <a:endParaRPr lang="en-US" sz="125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25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every trace tells a story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5897880"/>
            <a:ext cx="5486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Stefanus Eko Prasetyo</a:t>
            </a:r>
            <a:endParaRPr lang="en-US" sz="16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Lab-1  ·  hands-on session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 01 · SESSION 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Today's roadmap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883664"/>
            <a:ext cx="402336" cy="402336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43000" y="179222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digital forensics is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143000" y="217627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definition, process, and where it is used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48640" y="3364992"/>
            <a:ext cx="402336" cy="402336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43000" y="32735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digital trail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143000" y="365760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every action on a system leaves behind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548640" y="4846320"/>
            <a:ext cx="402336" cy="402336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828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43000" y="4754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Linux toolbox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143000" y="5138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commands that carry a whole investigation</a:t>
            </a:r>
            <a:endParaRPr lang="en-US" sz="1350" dirty="0"/>
          </a:p>
        </p:txBody>
      </p:sp>
      <p:sp>
        <p:nvSpPr>
          <p:cNvPr id="16" name="Shape 14"/>
          <p:cNvSpPr/>
          <p:nvPr/>
        </p:nvSpPr>
        <p:spPr>
          <a:xfrm>
            <a:off x="6263640" y="1883664"/>
            <a:ext cx="402336" cy="402336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17" name="Text 15"/>
          <p:cNvSpPr/>
          <p:nvPr/>
        </p:nvSpPr>
        <p:spPr>
          <a:xfrm>
            <a:off x="6263640" y="18653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858000" y="179222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Hashing for integrity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858000" y="2176272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md5sum and sha1sum — proof that evidence is untouched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63640" y="3364992"/>
            <a:ext cx="402336" cy="402336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21" name="Text 19"/>
          <p:cNvSpPr/>
          <p:nvPr/>
        </p:nvSpPr>
        <p:spPr>
          <a:xfrm>
            <a:off x="6263640" y="33467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6858000" y="32735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Magic bytes &amp; file headers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858000" y="3657600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extensions lie and content does not</a:t>
            </a:r>
            <a:endParaRPr lang="en-US" sz="1350" dirty="0"/>
          </a:p>
        </p:txBody>
      </p:sp>
      <p:sp>
        <p:nvSpPr>
          <p:cNvPr id="24" name="Shape 22"/>
          <p:cNvSpPr/>
          <p:nvPr/>
        </p:nvSpPr>
        <p:spPr>
          <a:xfrm>
            <a:off x="6263640" y="4846320"/>
            <a:ext cx="402336" cy="402336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25" name="Text 23"/>
          <p:cNvSpPr/>
          <p:nvPr/>
        </p:nvSpPr>
        <p:spPr>
          <a:xfrm>
            <a:off x="6263640" y="48280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858000" y="4754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Challenges &amp; working paper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858000" y="5138928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three hands-on challenges + how to document them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is digital forensics?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9167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Using technology to </a:t>
            </a:r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gather evidence</a:t>
            </a:r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</a:t>
            </a:r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investigate it</a:t>
            </a:r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, and </a:t>
            </a:r>
            <a:pPr indent="0" marL="0">
              <a:lnSpc>
                <a:spcPct val="115000"/>
              </a:lnSpc>
              <a:buNone/>
            </a:pPr>
            <a:r>
              <a:rPr lang="en-US" sz="26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 the findings</a:t>
            </a:r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in a legal case.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3246120" cy="1737360"/>
          </a:xfrm>
          <a:prstGeom prst="roundRect">
            <a:avLst>
              <a:gd name="adj" fmla="val 5263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04672" y="3319272"/>
            <a:ext cx="402336" cy="402336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7" name="Text 5"/>
          <p:cNvSpPr/>
          <p:nvPr/>
        </p:nvSpPr>
        <p:spPr>
          <a:xfrm>
            <a:off x="804672" y="3300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3300984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</a:t>
            </a:r>
            <a:endParaRPr lang="en-US" sz="2100" dirty="0"/>
          </a:p>
        </p:txBody>
      </p:sp>
      <p:sp>
        <p:nvSpPr>
          <p:cNvPr id="9" name="Text 7"/>
          <p:cNvSpPr/>
          <p:nvPr/>
        </p:nvSpPr>
        <p:spPr>
          <a:xfrm>
            <a:off x="841248" y="3931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acquire evidence without altering it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3822192" y="3630168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389120" y="3063240"/>
            <a:ext cx="3246120" cy="1737360"/>
          </a:xfrm>
          <a:prstGeom prst="roundRect">
            <a:avLst>
              <a:gd name="adj" fmla="val 5263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45152" y="3319272"/>
            <a:ext cx="402336" cy="402336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13" name="Text 11"/>
          <p:cNvSpPr/>
          <p:nvPr/>
        </p:nvSpPr>
        <p:spPr>
          <a:xfrm>
            <a:off x="4645152" y="3300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5212080" y="3300984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Analyze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4681728" y="3931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examine logs, files, memory, traffic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7662672" y="3630168"/>
            <a:ext cx="5669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8229600" y="3063240"/>
            <a:ext cx="3246120" cy="1737360"/>
          </a:xfrm>
          <a:prstGeom prst="roundRect">
            <a:avLst>
              <a:gd name="adj" fmla="val 5263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485632" y="3319272"/>
            <a:ext cx="402336" cy="402336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19" name="Text 17"/>
          <p:cNvSpPr/>
          <p:nvPr/>
        </p:nvSpPr>
        <p:spPr>
          <a:xfrm>
            <a:off x="8485632" y="330098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9052560" y="3300984"/>
            <a:ext cx="2240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</a:t>
            </a:r>
            <a:endParaRPr lang="en-US" sz="2100" dirty="0"/>
          </a:p>
        </p:txBody>
      </p:sp>
      <p:sp>
        <p:nvSpPr>
          <p:cNvPr id="21" name="Text 19"/>
          <p:cNvSpPr/>
          <p:nvPr/>
        </p:nvSpPr>
        <p:spPr>
          <a:xfrm>
            <a:off x="8522208" y="3931920"/>
            <a:ext cx="2697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report findings that stand in court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548640" y="525780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common goal: collect evidence that can be used to prosecute suspects in a court of law.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it is used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68680" y="20391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Investigating cyber attacks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868680" y="25603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Determine the scope and source of a breach, then harden defenses against the next one.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263640" y="178308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583680" y="203911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Threat detection &amp; response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6583680" y="256032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Proactively hunt and mitigate security threats before they become incidents.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548640" y="393192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868680" y="418795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recovery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868680" y="47091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Recover data that was stolen or deleted during an attack.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6263640" y="3931920"/>
            <a:ext cx="5394960" cy="1828800"/>
          </a:xfrm>
          <a:prstGeom prst="roundRect">
            <a:avLst>
              <a:gd name="adj" fmla="val 5000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6583680" y="4187952"/>
            <a:ext cx="4754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Criminal investigations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6583680" y="47091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4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suspects, establish motive, and link suspects to specific crimes.</a:t>
            </a:r>
            <a:endParaRPr 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CONCEPT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digital trail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48463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digital action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leaves evidence.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i="1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investigator's job is to find that trail — and to interpret it correctly.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126480" y="1847088"/>
            <a:ext cx="128016" cy="128016"/>
          </a:xfrm>
          <a:prstGeom prst="ellipse">
            <a:avLst/>
          </a:prstGeom>
          <a:solidFill>
            <a:srgbClr val="37DCF2"/>
          </a:solidFill>
          <a:ln/>
        </p:spPr>
      </p:sp>
      <p:sp>
        <p:nvSpPr>
          <p:cNvPr id="7" name="Text 5"/>
          <p:cNvSpPr/>
          <p:nvPr/>
        </p:nvSpPr>
        <p:spPr>
          <a:xfrm>
            <a:off x="6446520" y="170992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access timestamps</a:t>
            </a:r>
            <a:endParaRPr lang="en-US" sz="1650" dirty="0"/>
          </a:p>
        </p:txBody>
      </p:sp>
      <p:sp>
        <p:nvSpPr>
          <p:cNvPr id="8" name="Text 6"/>
          <p:cNvSpPr/>
          <p:nvPr/>
        </p:nvSpPr>
        <p:spPr>
          <a:xfrm>
            <a:off x="6446520" y="203911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files were created, changed, opened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126480" y="2743200"/>
            <a:ext cx="128016" cy="128016"/>
          </a:xfrm>
          <a:prstGeom prst="ellipse">
            <a:avLst/>
          </a:prstGeom>
          <a:solidFill>
            <a:srgbClr val="37DCF2"/>
          </a:solidFill>
          <a:ln/>
        </p:spPr>
      </p:sp>
      <p:sp>
        <p:nvSpPr>
          <p:cNvPr id="10" name="Text 8"/>
          <p:cNvSpPr/>
          <p:nvPr/>
        </p:nvSpPr>
        <p:spPr>
          <a:xfrm>
            <a:off x="6446520" y="26060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 connection logs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6446520" y="293522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who talked to whom, on which port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126480" y="3639312"/>
            <a:ext cx="128016" cy="128016"/>
          </a:xfrm>
          <a:prstGeom prst="ellipse">
            <a:avLst/>
          </a:prstGeom>
          <a:solidFill>
            <a:srgbClr val="37DCF2"/>
          </a:solidFill>
          <a:ln/>
        </p:spPr>
      </p:sp>
      <p:sp>
        <p:nvSpPr>
          <p:cNvPr id="13" name="Text 11"/>
          <p:cNvSpPr/>
          <p:nvPr/>
        </p:nvSpPr>
        <p:spPr>
          <a:xfrm>
            <a:off x="6446520" y="3502152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Process execution records</a:t>
            </a:r>
            <a:endParaRPr lang="en-US" sz="1650" dirty="0"/>
          </a:p>
        </p:txBody>
      </p:sp>
      <p:sp>
        <p:nvSpPr>
          <p:cNvPr id="14" name="Text 12"/>
          <p:cNvSpPr/>
          <p:nvPr/>
        </p:nvSpPr>
        <p:spPr>
          <a:xfrm>
            <a:off x="6446520" y="383133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ran, under which account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126480" y="4535424"/>
            <a:ext cx="128016" cy="128016"/>
          </a:xfrm>
          <a:prstGeom prst="ellipse">
            <a:avLst/>
          </a:prstGeom>
          <a:solidFill>
            <a:srgbClr val="37DCF2"/>
          </a:solidFill>
          <a:ln/>
        </p:spPr>
      </p:sp>
      <p:sp>
        <p:nvSpPr>
          <p:cNvPr id="16" name="Text 14"/>
          <p:cNvSpPr/>
          <p:nvPr/>
        </p:nvSpPr>
        <p:spPr>
          <a:xfrm>
            <a:off x="6446520" y="4398264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Browser history</a:t>
            </a:r>
            <a:endParaRPr lang="en-US" sz="1650" dirty="0"/>
          </a:p>
        </p:txBody>
      </p:sp>
      <p:sp>
        <p:nvSpPr>
          <p:cNvPr id="17" name="Text 15"/>
          <p:cNvSpPr/>
          <p:nvPr/>
        </p:nvSpPr>
        <p:spPr>
          <a:xfrm>
            <a:off x="6446520" y="4727448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searches, downloads, form data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126480" y="5431536"/>
            <a:ext cx="128016" cy="128016"/>
          </a:xfrm>
          <a:prstGeom prst="ellipse">
            <a:avLst/>
          </a:prstGeom>
          <a:solidFill>
            <a:srgbClr val="37DCF2"/>
          </a:solidFill>
          <a:ln/>
        </p:spPr>
      </p:sp>
      <p:sp>
        <p:nvSpPr>
          <p:cNvPr id="19" name="Text 17"/>
          <p:cNvSpPr/>
          <p:nvPr/>
        </p:nvSpPr>
        <p:spPr>
          <a:xfrm>
            <a:off x="6446520" y="5294376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Deleted file remnants</a:t>
            </a:r>
            <a:endParaRPr lang="en-US" sz="1650" dirty="0"/>
          </a:p>
        </p:txBody>
      </p:sp>
      <p:sp>
        <p:nvSpPr>
          <p:cNvPr id="20" name="Text 18"/>
          <p:cNvSpPr/>
          <p:nvPr/>
        </p:nvSpPr>
        <p:spPr>
          <a:xfrm>
            <a:off x="6446520" y="56235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deleted is not gone — traces persist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SKILLS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Linux toolbox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62763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Most forensic tooling lives on Linux. Twelve commands carry an entire first investigation: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148840"/>
          <a:ext cx="11091672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2834640"/>
                <a:gridCol w="57881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Group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Commands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Why it matters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34B5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Navigate &amp; inspect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623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ls · cd · file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move around fast; identify what a file really is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34B5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Read content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623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cat · strings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read text; pull readable text out of binaries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34B5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Search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623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grep · find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hunt patterns in logs; locate files by name, type, or time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34B5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Prove integrity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623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md5sum · sha1sum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show evidence was not tampered with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34B5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Go low-level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623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xxd · hexedit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hex dumps; patch bytes such as broken headers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b="1" dirty="0">
                          <a:solidFill>
                            <a:srgbClr val="134B5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Live system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1623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ps · netstat</a:t>
                      </a:r>
                      <a:endParaRPr lang="en-US" sz="13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snapshot running processes and connections</a:t>
                      </a:r>
                      <a:endParaRPr lang="en-US" sz="13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TOOLBOX · 1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Navigate &amp; inspect — ls, cd, file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675120" cy="4480560"/>
          </a:xfrm>
          <a:prstGeom prst="roundRect">
            <a:avLst>
              <a:gd name="adj" fmla="val 1837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2938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6" name="Shape 4"/>
          <p:cNvSpPr/>
          <p:nvPr/>
        </p:nvSpPr>
        <p:spPr>
          <a:xfrm>
            <a:off x="950976" y="192938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7" name="Shape 5"/>
          <p:cNvSpPr/>
          <p:nvPr/>
        </p:nvSpPr>
        <p:spPr>
          <a:xfrm>
            <a:off x="1170432" y="192938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874520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167128"/>
            <a:ext cx="6172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Desktop  Documents  Downloads  Music  Pictures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 -la /var/log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drwxr-xr-x 14 root root  auth.log  kern.log  syslog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file suspect.png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suspect.png: PNG image data, 562 x 424, 8-bit/color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file image.jpg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image.jpg: ELF 64-bit LSB pie executable, x86-64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a jpg that is actually a Linux executable!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635240" y="19202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Reading the signals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35240" y="2377440"/>
            <a:ext cx="39776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identifies content by signature — it never trusts the extension</a:t>
            </a:r>
            <a:endParaRPr lang="en-US" sz="1500" dirty="0"/>
          </a:p>
          <a:p>
            <a:pPr algn="l"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image.jpg that reports ELF is malware wearing a costume</a:t>
            </a:r>
            <a:endParaRPr lang="en-US" sz="1500" dirty="0"/>
          </a:p>
          <a:p>
            <a:pPr algn="l"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ls -la also reveals hidden dotfiles and permissions</a:t>
            </a:r>
            <a:endParaRPr lang="en-US" sz="1500" dirty="0"/>
          </a:p>
          <a:p>
            <a:pPr algn="l"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 moves the rest of the toolkit into position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TOOLBOX · 2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content — cat, strings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675120" cy="4480560"/>
          </a:xfrm>
          <a:prstGeom prst="roundRect">
            <a:avLst>
              <a:gd name="adj" fmla="val 1837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2938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6" name="Shape 4"/>
          <p:cNvSpPr/>
          <p:nvPr/>
        </p:nvSpPr>
        <p:spPr>
          <a:xfrm>
            <a:off x="950976" y="192938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7" name="Shape 5"/>
          <p:cNvSpPr/>
          <p:nvPr/>
        </p:nvSpPr>
        <p:spPr>
          <a:xfrm>
            <a:off x="1170432" y="192938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874520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167128"/>
            <a:ext cx="6172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cat note.txt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Meet at the usual place. Bring the drive.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strings firmware.bin | head -5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/lib64/ld-linux-x86-64.so.2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http://updates.example.net/config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GVsbG8sIHdvcmxkIQ==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strings -n 8 malware.bin | grep http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http://updates.example.net/config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635240" y="19202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When files are not text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35240" y="2377440"/>
            <a:ext cx="39776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cat prints plain text files in full</a:t>
            </a:r>
            <a:endParaRPr lang="en-US" sz="1500" dirty="0"/>
          </a:p>
          <a:p>
            <a:pPr algn="l"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strings extracts human-readable sequences from any binary</a:t>
            </a:r>
            <a:endParaRPr lang="en-US" sz="1500" dirty="0"/>
          </a:p>
          <a:p>
            <a:pPr algn="l"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malware configs, URLs, and base64 blobs often surface this way</a:t>
            </a:r>
            <a:endParaRPr lang="en-US" sz="1500" dirty="0"/>
          </a:p>
          <a:p>
            <a:pPr algn="l"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-n 8 keeps only strings of 8+ characters — less noise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TOOLBOX · 3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Search — grep, find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675120" cy="4480560"/>
          </a:xfrm>
          <a:prstGeom prst="roundRect">
            <a:avLst>
              <a:gd name="adj" fmla="val 1837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2938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6" name="Shape 4"/>
          <p:cNvSpPr/>
          <p:nvPr/>
        </p:nvSpPr>
        <p:spPr>
          <a:xfrm>
            <a:off x="950976" y="192938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7" name="Shape 5"/>
          <p:cNvSpPr/>
          <p:nvPr/>
        </p:nvSpPr>
        <p:spPr>
          <a:xfrm>
            <a:off x="1170432" y="192938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874520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167128"/>
            <a:ext cx="6172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grep "Failed password" /var/log/auth.log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Jan 12 08:14:02 sshd[2011]: Failed password for admin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203.0.113.77 port 51234 ssh2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grep -c "203.0.113.77" server.log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find /home -mmin -30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/home/analyst/notes.txt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find / -name "*.jpg" 2&gt;/dev/null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/opt/staging/logo.jpg   /tmp/drop/img002.jpg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635240" y="19202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Finding the needle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35240" y="2377440"/>
            <a:ext cx="39776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grep filters huge logs down to the lines that matter</a:t>
            </a:r>
            <a:endParaRPr lang="en-US" sz="1500" dirty="0"/>
          </a:p>
          <a:p>
            <a:pPr algn="l"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 hits with -c, ignore case with -i</a:t>
            </a:r>
            <a:endParaRPr lang="en-US" sz="1500" dirty="0"/>
          </a:p>
          <a:p>
            <a:pPr algn="l"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locates files by name, type, size, or modification time</a:t>
            </a:r>
            <a:endParaRPr lang="en-US" sz="1500" dirty="0"/>
          </a:p>
          <a:p>
            <a:pPr algn="l"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-mmin -30 = changed in the last 30 minutes — fresh evidence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TOOLBOX · 4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system — ps, netstat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6675120" cy="4480560"/>
          </a:xfrm>
          <a:prstGeom prst="roundRect">
            <a:avLst>
              <a:gd name="adj" fmla="val 1837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92938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6" name="Shape 4"/>
          <p:cNvSpPr/>
          <p:nvPr/>
        </p:nvSpPr>
        <p:spPr>
          <a:xfrm>
            <a:off x="950976" y="192938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7" name="Shape 5"/>
          <p:cNvSpPr/>
          <p:nvPr/>
        </p:nvSpPr>
        <p:spPr>
          <a:xfrm>
            <a:off x="1170432" y="192938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1874520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2167128"/>
            <a:ext cx="6172200" cy="3931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ps aux | head -4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   PID  %CPU COMMAND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root     1   0.0 systemd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 2841 12.9 firefox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 3102  0.1 miner  &lt;- unfamiliar name?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netstat -tn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Proto Local               Foreign             State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tcp  192.168.0.106:44300  93.184.220.29:http  ESTABLISHED</a:t>
            </a:r>
            <a:endParaRPr lang="en-US" sz="14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tcp  192.168.0.106:58308  52.39.122.167:https ESTABLISHED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635240" y="1920240"/>
            <a:ext cx="3977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Snapshot the living system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635240" y="2377440"/>
            <a:ext cx="39776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ps lists running processes — spot unfamiliar names and odd parents</a:t>
            </a:r>
            <a:endParaRPr lang="en-US" sz="1500" dirty="0"/>
          </a:p>
          <a:p>
            <a:pPr algn="l"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netstat shows active connections and their states</a:t>
            </a:r>
            <a:endParaRPr lang="en-US" sz="1500" dirty="0"/>
          </a:p>
          <a:p>
            <a:pPr algn="l"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unusual foreign addresses or ports deserve a second look</a:t>
            </a:r>
            <a:endParaRPr lang="en-US" sz="1500" dirty="0"/>
          </a:p>
          <a:p>
            <a:pPr algn="l" marL="152400" indent="-152400">
              <a:lnSpc>
                <a:spcPct val="115000"/>
              </a:lnSpc>
              <a:spcAft>
                <a:spcPts val="1000"/>
              </a:spcAft>
              <a:buSzPct val="100000"/>
              <a:buChar char="▸"/>
            </a:pPr>
            <a:r>
              <a:rPr lang="en-US" sz="150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this is live-response territory: memory comes later (Lab 07)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INTEGRITY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Hashing — proof that evidence is untouched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hash turns any input into a fixed-length fingerprint. Same content in, same hash out — change one bit and the fingerprint changes completely.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6675120" cy="3566160"/>
          </a:xfrm>
          <a:prstGeom prst="roundRect">
            <a:avLst>
              <a:gd name="adj" fmla="val 2308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31520" y="252374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7" name="Shape 5"/>
          <p:cNvSpPr/>
          <p:nvPr/>
        </p:nvSpPr>
        <p:spPr>
          <a:xfrm>
            <a:off x="950976" y="252374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8" name="Shape 6"/>
          <p:cNvSpPr/>
          <p:nvPr/>
        </p:nvSpPr>
        <p:spPr>
          <a:xfrm>
            <a:off x="1170432" y="252374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9" name="Text 7"/>
          <p:cNvSpPr/>
          <p:nvPr/>
        </p:nvSpPr>
        <p:spPr>
          <a:xfrm>
            <a:off x="1463040" y="2468880"/>
            <a:ext cx="5577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04672" y="2761488"/>
            <a:ext cx="6172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md5sum evidence.dd</a:t>
            </a:r>
            <a:endParaRPr lang="en-US" sz="13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8ddd8be4b179a529afa5f2ffae4b9858  evidence.dd</a:t>
            </a:r>
            <a:endParaRPr lang="en-US" sz="1300" dirty="0"/>
          </a:p>
          <a:p>
            <a:pPr algn="l" indent="0" marL="0">
              <a:lnSpc>
                <a:spcPct val="122000"/>
              </a:lnSpc>
              <a:buNone/>
            </a:pPr>
            <a:endParaRPr lang="en-US" sz="13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sha1sum evidence.dd</a:t>
            </a:r>
            <a:endParaRPr lang="en-US" sz="13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a0b65939670bc2c010f4d5d6a0b3e4e4590fb92b  evidence.dd</a:t>
            </a:r>
            <a:endParaRPr lang="en-US" sz="1300" dirty="0"/>
          </a:p>
          <a:p>
            <a:pPr algn="l" indent="0" marL="0">
              <a:lnSpc>
                <a:spcPct val="122000"/>
              </a:lnSpc>
              <a:buNone/>
            </a:pPr>
            <a:endParaRPr lang="en-US" sz="13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echo x &gt;&gt; copy.dd   # one byte added to a COPY</a:t>
            </a:r>
            <a:endParaRPr lang="en-US" sz="13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md5sum copy.dd</a:t>
            </a:r>
            <a:endParaRPr lang="en-US" sz="13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b1946ac92492d2347c6235b4d2611184  copy.dd</a:t>
            </a:r>
            <a:endParaRPr lang="en-US" sz="13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completely different hash - the avalanche effect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635240" y="2514600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7882128" y="26243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 at acquisition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882128" y="2953512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record MD5/SHA1 the moment evidence is received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635240" y="3685032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7882128" y="37947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 after analysis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7882128" y="4123944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re-hash and compare before you report anything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635240" y="4855464"/>
            <a:ext cx="3977640" cy="1005840"/>
          </a:xfrm>
          <a:prstGeom prst="roundRect">
            <a:avLst>
              <a:gd name="adj" fmla="val 7273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7882128" y="4965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Always work on copies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7882128" y="5294376"/>
            <a:ext cx="3566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original stays sealed — you analyze the copy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FORMATS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Magic bytes &amp; file headers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645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5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file signature (magic bytes) is a fixed sequence of bytes at the start of a file that identifies its real type — regardless of its extension.</a:t>
            </a:r>
            <a:endParaRPr lang="en-US" sz="15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331720"/>
          <a:ext cx="68580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2651760"/>
                <a:gridCol w="3108960"/>
              </a:tblGrid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Format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First bytes (hex)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Notes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6B7A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4B5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JPEG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3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FF D8 FF E0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photos; EXIF metadata lives here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4B5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PNG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3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89 50 4E 47 0D 0A 1A 0A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8-byte signature — today's challenge target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4B5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PDF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3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25 50 44 46 2D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reads as %PDF-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4B5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BMP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3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 4D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reads as BM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34B56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ZIP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32B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 4B 03 04</a:t>
                      </a:r>
                      <a:endParaRPr lang="en-US" sz="125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5B7078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also the prefix of .docx and .xlsx</a:t>
                      </a:r>
                      <a:endParaRPr lang="en-US" sz="12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64008" marR="64008" marT="64008" marB="64008" anchor="ctr">
                    <a:lnL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635240" y="2331720"/>
            <a:ext cx="3977640" cy="2651760"/>
          </a:xfrm>
          <a:prstGeom prst="roundRect">
            <a:avLst>
              <a:gd name="adj" fmla="val 3103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7818120" y="247802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8" name="Shape 5"/>
          <p:cNvSpPr/>
          <p:nvPr/>
        </p:nvSpPr>
        <p:spPr>
          <a:xfrm>
            <a:off x="8037576" y="247802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9" name="Shape 6"/>
          <p:cNvSpPr/>
          <p:nvPr/>
        </p:nvSpPr>
        <p:spPr>
          <a:xfrm>
            <a:off x="8257032" y="247802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10" name="Text 7"/>
          <p:cNvSpPr/>
          <p:nvPr/>
        </p:nvSpPr>
        <p:spPr>
          <a:xfrm>
            <a:off x="8549640" y="2423160"/>
            <a:ext cx="2880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7891272" y="2715768"/>
            <a:ext cx="347472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xxd logo.png | head -1</a:t>
            </a:r>
            <a:endParaRPr lang="en-US" sz="12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00000000: 8950 4e47 0d0a 1a0a</a:t>
            </a:r>
            <a:endParaRPr lang="en-US" sz="12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0000 000d 4948 4452</a:t>
            </a:r>
            <a:endParaRPr lang="en-US" sz="1200" dirty="0"/>
          </a:p>
          <a:p>
            <a:pPr algn="l" indent="0" marL="0">
              <a:lnSpc>
                <a:spcPct val="122000"/>
              </a:lnSpc>
              <a:buNone/>
            </a:pPr>
            <a:endParaRPr lang="en-US" sz="12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8950 4e47 = the PNG signature</a:t>
            </a:r>
            <a:endParaRPr lang="en-US" sz="12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4948 4452 = IHDR, image header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7635240" y="5257800"/>
            <a:ext cx="3977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Extensions can be renamed in one click. Bytes cannot lie.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TECHNIQUE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Repairing a broken file header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2560320" cy="1600200"/>
          </a:xfrm>
          <a:prstGeom prst="roundRect">
            <a:avLst>
              <a:gd name="adj" fmla="val 5143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68096" y="2002536"/>
            <a:ext cx="365760" cy="365760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6" name="Text 4"/>
          <p:cNvSpPr/>
          <p:nvPr/>
        </p:nvSpPr>
        <p:spPr>
          <a:xfrm>
            <a:off x="768096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261872" y="198424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Copy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86384" y="24963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never edit the original — work on a copy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090672" y="228600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410712" y="1783080"/>
            <a:ext cx="2560320" cy="1600200"/>
          </a:xfrm>
          <a:prstGeom prst="roundRect">
            <a:avLst>
              <a:gd name="adj" fmla="val 5143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30168" y="2002536"/>
            <a:ext cx="365760" cy="365760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12" name="Text 10"/>
          <p:cNvSpPr/>
          <p:nvPr/>
        </p:nvSpPr>
        <p:spPr>
          <a:xfrm>
            <a:off x="3630168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123944" y="198424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Inspect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3648456" y="24963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xxd file.png | head -1 — compare with the true signature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52744" y="228600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72784" y="1783080"/>
            <a:ext cx="2560320" cy="1600200"/>
          </a:xfrm>
          <a:prstGeom prst="roundRect">
            <a:avLst>
              <a:gd name="adj" fmla="val 5143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492240" y="2002536"/>
            <a:ext cx="365760" cy="365760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18" name="Text 16"/>
          <p:cNvSpPr/>
          <p:nvPr/>
        </p:nvSpPr>
        <p:spPr>
          <a:xfrm>
            <a:off x="6492240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986016" y="198424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Patch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510528" y="24963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hexedit the first bytes back to the correct magic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814816" y="228600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134856" y="1783080"/>
            <a:ext cx="2560320" cy="1600200"/>
          </a:xfrm>
          <a:prstGeom prst="roundRect">
            <a:avLst>
              <a:gd name="adj" fmla="val 5143"/>
            </a:avLst>
          </a:prstGeom>
          <a:solidFill>
            <a:srgbClr val="134B56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9354312" y="2002536"/>
            <a:ext cx="365760" cy="365760"/>
          </a:xfrm>
          <a:prstGeom prst="ellipse">
            <a:avLst/>
          </a:prstGeom>
          <a:solidFill>
            <a:srgbClr val="37DCF2"/>
          </a:solidFill>
          <a:ln/>
        </p:spPr>
      </p:sp>
      <p:sp>
        <p:nvSpPr>
          <p:cNvPr id="24" name="Text 22"/>
          <p:cNvSpPr/>
          <p:nvPr/>
        </p:nvSpPr>
        <p:spPr>
          <a:xfrm>
            <a:off x="9354312" y="19842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848088" y="1984248"/>
            <a:ext cx="1691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Verify</a:t>
            </a:r>
            <a:endParaRPr lang="en-US" sz="1700" dirty="0"/>
          </a:p>
        </p:txBody>
      </p:sp>
      <p:sp>
        <p:nvSpPr>
          <p:cNvPr id="26" name="Text 24"/>
          <p:cNvSpPr/>
          <p:nvPr/>
        </p:nvSpPr>
        <p:spPr>
          <a:xfrm>
            <a:off x="9372600" y="2496312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FE6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opens it; re-hash; log both hashes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48640" y="3794760"/>
            <a:ext cx="11091672" cy="2103120"/>
          </a:xfrm>
          <a:prstGeom prst="roundRect">
            <a:avLst>
              <a:gd name="adj" fmla="val 3913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31520" y="394106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29" name="Shape 27"/>
          <p:cNvSpPr/>
          <p:nvPr/>
        </p:nvSpPr>
        <p:spPr>
          <a:xfrm>
            <a:off x="950976" y="394106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30" name="Shape 28"/>
          <p:cNvSpPr/>
          <p:nvPr/>
        </p:nvSpPr>
        <p:spPr>
          <a:xfrm>
            <a:off x="1170432" y="394106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31" name="Text 29"/>
          <p:cNvSpPr/>
          <p:nvPr/>
        </p:nvSpPr>
        <p:spPr>
          <a:xfrm>
            <a:off x="1463040" y="3886200"/>
            <a:ext cx="9994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804672" y="4178808"/>
            <a:ext cx="1058875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file challenge_copy.png</a:t>
            </a:r>
            <a:endParaRPr lang="en-US" sz="13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challenge_copy.png: data</a:t>
            </a:r>
            <a:endParaRPr lang="en-US" sz="13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xxd challenge_copy.png | head -1</a:t>
            </a:r>
            <a:endParaRPr lang="en-US" sz="13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00000000: 0000 0000 0000 000d 4948 4452</a:t>
            </a:r>
            <a:endParaRPr lang="en-US" sz="13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hexedit challenge_copy.png   # restore 8950 4e47 0d0a 1a0a, save</a:t>
            </a:r>
            <a:endParaRPr lang="en-US" sz="13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3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file challenge_copy.png</a:t>
            </a:r>
            <a:endParaRPr lang="en-US" sz="13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3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challenge_copy.png: PNG image data, 1400 x 788, 8-bit/color RGB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HANDS-ON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challenges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566160" cy="3931920"/>
          </a:xfrm>
          <a:prstGeom prst="roundRect">
            <a:avLst>
              <a:gd name="adj" fmla="val 2564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804672" y="201168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 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386584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3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challenge.png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04672" y="27889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7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files/challenge.png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804672" y="3355848"/>
            <a:ext cx="30540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PNG header is damaged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spot the wrong bytes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repair a copy, recover the flag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" y="5257800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from the original lab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11396" y="1783080"/>
            <a:ext cx="3566160" cy="3931920"/>
          </a:xfrm>
          <a:prstGeom prst="roundRect">
            <a:avLst>
              <a:gd name="adj" fmla="val 2564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4567428" y="201168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 B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567428" y="2386584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3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challenge_extra.png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4567428" y="27889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7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files/challenge_extra.png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567428" y="3355848"/>
            <a:ext cx="30540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file lies about its type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deep inside it still whispers PNG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restore the true signature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567428" y="5257800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new twist on the same idea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074152" y="1783080"/>
            <a:ext cx="3566160" cy="3931920"/>
          </a:xfrm>
          <a:prstGeom prst="roundRect">
            <a:avLst>
              <a:gd name="adj" fmla="val 2564"/>
            </a:avLst>
          </a:prstGeom>
          <a:solidFill>
            <a:srgbClr val="EDF3F5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30184" y="2011680"/>
            <a:ext cx="3054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 C — new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330184" y="2386584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623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access_big.log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8330184" y="2788920"/>
            <a:ext cx="3054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5B70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files/ (log + update.bin)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330184" y="3355848"/>
            <a:ext cx="3054096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8,600 lines, one attacker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secret is hidden URL-encoded</a:t>
            </a:r>
            <a:endParaRPr lang="en-US" sz="1250" dirty="0"/>
          </a:p>
          <a:p>
            <a:pPr marL="152400" indent="-152400">
              <a:spcAft>
                <a:spcPts val="800"/>
              </a:spcAft>
              <a:buSzPct val="100000"/>
              <a:buChar char="▸"/>
            </a:pPr>
            <a:r>
              <a:rPr lang="en-US" sz="1250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binary holds one more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330184" y="5257800"/>
            <a:ext cx="30540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grep and strings power hunt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8640" y="59893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34B5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Flag format:  </a:t>
            </a:r>
            <a:pPr indent="0" marL="0">
              <a:buNone/>
            </a:pPr>
            <a:r>
              <a:rPr lang="en-US" sz="1400" dirty="0">
                <a:solidFill>
                  <a:srgbClr val="16232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ctf{xxxx}</a:t>
            </a:r>
            <a:pPr indent="0" marL="0">
              <a:buNone/>
            </a:pPr>
            <a:r>
              <a:rPr lang="en-US" sz="140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 hints and step-by-step guidance live in your working paper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B6B7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DISCIPLINE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Working paper &amp; evidence rules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65760" cy="365760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7647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97280" y="173736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Pre-lab before the session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1097280" y="205740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answer the understanding check in the working paper first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48640" y="2624328"/>
            <a:ext cx="365760" cy="365760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6060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97280" y="2578608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 off every step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1097280" y="2898648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 each step as you complete it — in order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48640" y="3465576"/>
            <a:ext cx="365760" cy="365760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44728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97280" y="3419856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 your evidence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1097280" y="3739896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screenshots and outputs get B-01, B-02, B-03 and land in the evidence log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48640" y="4306824"/>
            <a:ext cx="365760" cy="365760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42885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097280" y="4261104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 what you touch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1097280" y="4581144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fill the integrity form before and after analysis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548640" y="5148072"/>
            <a:ext cx="365760" cy="365760"/>
          </a:xfrm>
          <a:prstGeom prst="ellipse">
            <a:avLst/>
          </a:prstGeom>
          <a:solidFill>
            <a:srgbClr val="1B6B7A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512978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97280" y="5102352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1623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Reflect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1097280" y="5422392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close each lab with findings, lessons, and obstacles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360920" y="1920240"/>
            <a:ext cx="4251960" cy="2377440"/>
          </a:xfrm>
          <a:prstGeom prst="roundRect">
            <a:avLst>
              <a:gd name="adj" fmla="val 3462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7543800" y="206654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26" name="Shape 24"/>
          <p:cNvSpPr/>
          <p:nvPr/>
        </p:nvSpPr>
        <p:spPr>
          <a:xfrm>
            <a:off x="7763256" y="206654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27" name="Shape 25"/>
          <p:cNvSpPr/>
          <p:nvPr/>
        </p:nvSpPr>
        <p:spPr>
          <a:xfrm>
            <a:off x="7982712" y="206654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28" name="Text 26"/>
          <p:cNvSpPr/>
          <p:nvPr/>
        </p:nvSpPr>
        <p:spPr>
          <a:xfrm>
            <a:off x="8275320" y="2011680"/>
            <a:ext cx="3154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616952" y="2304288"/>
            <a:ext cx="3749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evidence log entry</a:t>
            </a:r>
            <a:endParaRPr lang="en-US" sz="12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[B-04] 2026-09-30 10:12</a:t>
            </a:r>
            <a:endParaRPr lang="en-US" sz="12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xxd challenge_extra.png | head -1</a:t>
            </a:r>
            <a:endParaRPr lang="en-US" sz="12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200" b="1" dirty="0">
                <a:solidFill>
                  <a:srgbClr val="FFD16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00000000: ffd8 ffe0 0000 000d</a:t>
            </a:r>
            <a:endParaRPr lang="en-US" sz="12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-&gt; header claims JPEG (FF D8 FF E0)</a:t>
            </a:r>
            <a:endParaRPr lang="en-US" sz="120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2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-&gt; IHDR at offset 12 says otherwise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360920" y="4572000"/>
            <a:ext cx="4251960" cy="1234440"/>
          </a:xfrm>
          <a:prstGeom prst="roundRect">
            <a:avLst>
              <a:gd name="adj" fmla="val 6667"/>
            </a:avLst>
          </a:prstGeom>
          <a:solidFill>
            <a:srgbClr val="134B56"/>
          </a:solidFill>
          <a:ln/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7635240" y="4736592"/>
            <a:ext cx="3703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 evidence, no answer.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7635240" y="519379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CFE6E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claim in your report must trace back to a numbered exhibit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419088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078"/>
                </a:solidFill>
                <a:latin typeface="Segoe UI"/>
                <a:ea typeface="Segoe UI"/>
                <a:cs typeface="Segoe U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37DC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 TAKEAWAYS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1316736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1600200" y="1353312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CLI is your microscope</a:t>
            </a:r>
            <a:endParaRPr lang="en-US" sz="2100" dirty="0"/>
          </a:p>
        </p:txBody>
      </p:sp>
      <p:sp>
        <p:nvSpPr>
          <p:cNvPr id="5" name="Text 3"/>
          <p:cNvSpPr/>
          <p:nvPr/>
        </p:nvSpPr>
        <p:spPr>
          <a:xfrm>
            <a:off x="1600200" y="1755648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CE9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ls, cat, strings, grep, find, file, xxd — twelve tools, one investigation</a:t>
            </a:r>
            <a:endParaRPr lang="en-US" sz="1350" dirty="0"/>
          </a:p>
        </p:txBody>
      </p:sp>
      <p:sp>
        <p:nvSpPr>
          <p:cNvPr id="6" name="Text 4"/>
          <p:cNvSpPr/>
          <p:nvPr/>
        </p:nvSpPr>
        <p:spPr>
          <a:xfrm>
            <a:off x="548640" y="2523744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1600200" y="2560320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Hashes prove integrity</a:t>
            </a:r>
            <a:endParaRPr lang="en-US" sz="2100" dirty="0"/>
          </a:p>
        </p:txBody>
      </p:sp>
      <p:sp>
        <p:nvSpPr>
          <p:cNvPr id="8" name="Text 6"/>
          <p:cNvSpPr/>
          <p:nvPr/>
        </p:nvSpPr>
        <p:spPr>
          <a:xfrm>
            <a:off x="1600200" y="2962656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CE9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hash at acquisition, verify after analysis, always work on copies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548640" y="3730752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600200" y="3767328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Extensions lie, bytes don't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1600200" y="4169664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CE9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file and xxd reveal what a file really is, whatever its name says</a:t>
            </a:r>
            <a:endParaRPr lang="en-US" sz="1350" dirty="0"/>
          </a:p>
        </p:txBody>
      </p:sp>
      <p:sp>
        <p:nvSpPr>
          <p:cNvPr id="12" name="Text 10"/>
          <p:cNvSpPr/>
          <p:nvPr/>
        </p:nvSpPr>
        <p:spPr>
          <a:xfrm>
            <a:off x="548640" y="493776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600200" y="4974336"/>
            <a:ext cx="9601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everything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600200" y="5376672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CE9E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numbered evidence, commands, and timestamps make findings repeatable</a:t>
            </a:r>
            <a:endParaRPr lang="en-US" sz="13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875520" y="4480560"/>
            <a:ext cx="4023360" cy="4023360"/>
          </a:xfrm>
          <a:prstGeom prst="ellipse">
            <a:avLst/>
          </a:prstGeom>
          <a:solidFill>
            <a:srgbClr val="14324A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155448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Clone this lab and get to work.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548640" y="3383280"/>
            <a:ext cx="7498080" cy="1828800"/>
          </a:xfrm>
          <a:prstGeom prst="roundRect">
            <a:avLst>
              <a:gd name="adj" fmla="val 4500"/>
            </a:avLst>
          </a:prstGeom>
          <a:solidFill>
            <a:srgbClr val="0B1B26"/>
          </a:solidFill>
          <a:ln w="12700">
            <a:solidFill>
              <a:srgbClr val="1E3646"/>
            </a:solidFill>
            <a:prstDash val="solid"/>
          </a:ln>
          <a:effectLst>
            <a:outerShdw sx="100000" sy="100000" kx="0" ky="0" algn="bl" rotWithShape="0" blurRad="88900" dist="25400" dir="2700000">
              <a:srgbClr val="0F2233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3529584"/>
            <a:ext cx="100584" cy="100584"/>
          </a:xfrm>
          <a:prstGeom prst="ellipse">
            <a:avLst/>
          </a:prstGeom>
          <a:solidFill>
            <a:srgbClr val="E8686A"/>
          </a:solidFill>
          <a:ln/>
        </p:spPr>
      </p:sp>
      <p:sp>
        <p:nvSpPr>
          <p:cNvPr id="6" name="Shape 4"/>
          <p:cNvSpPr/>
          <p:nvPr/>
        </p:nvSpPr>
        <p:spPr>
          <a:xfrm>
            <a:off x="950976" y="3529584"/>
            <a:ext cx="100584" cy="100584"/>
          </a:xfrm>
          <a:prstGeom prst="ellipse">
            <a:avLst/>
          </a:prstGeom>
          <a:solidFill>
            <a:srgbClr val="E9C46A"/>
          </a:solidFill>
          <a:ln/>
        </p:spPr>
      </p:sp>
      <p:sp>
        <p:nvSpPr>
          <p:cNvPr id="7" name="Shape 5"/>
          <p:cNvSpPr/>
          <p:nvPr/>
        </p:nvSpPr>
        <p:spPr>
          <a:xfrm>
            <a:off x="1170432" y="3529584"/>
            <a:ext cx="100584" cy="100584"/>
          </a:xfrm>
          <a:prstGeom prst="ellipse">
            <a:avLst/>
          </a:prstGeom>
          <a:solidFill>
            <a:srgbClr val="57B894"/>
          </a:solidFill>
          <a:ln/>
        </p:spPr>
      </p:sp>
      <p:sp>
        <p:nvSpPr>
          <p:cNvPr id="8" name="Text 6"/>
          <p:cNvSpPr/>
          <p:nvPr/>
        </p:nvSpPr>
        <p:spPr>
          <a:xfrm>
            <a:off x="1463040" y="34747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C8A9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analyst@kali: ~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04672" y="3767328"/>
            <a:ext cx="69951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https://github.com/stprasst/digital-forensic-lab</a:t>
            </a:r>
            <a:endParaRPr lang="en-US" sz="135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cd digital-forensic-lab/Lab\ 01/files</a:t>
            </a:r>
            <a:endParaRPr lang="en-US" sz="135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37DC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ls</a:t>
            </a:r>
            <a:endParaRPr lang="en-US" sz="1350" dirty="0"/>
          </a:p>
          <a:p>
            <a:pPr algn="l" indent="0" marL="0">
              <a:lnSpc>
                <a:spcPct val="122000"/>
              </a:lnSpc>
              <a:buNone/>
            </a:pPr>
            <a:r>
              <a:rPr lang="en-US" sz="1350" dirty="0">
                <a:solidFill>
                  <a:srgbClr val="BFE3D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challenge.png  images/  server.log  update.bin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548640" y="58064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7DC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Questions?  </a:t>
            </a:r>
            <a:pPr indent="0" marL="0">
              <a:buNone/>
            </a:pPr>
            <a:r>
              <a:rPr lang="en-US" sz="1500" dirty="0">
                <a:solidFill>
                  <a:srgbClr val="5B707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Stefanus Eko Prasetyo  ·  Digital Forensics Laboratory  ·  Lab-1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01 - Introduction to Digital Forensics</dc:title>
  <dc:subject>PptxGenJS Presentation</dc:subject>
  <dc:creator>Stefanus Eko Prasetyo</dc:creator>
  <cp:lastModifiedBy>Stefanus Eko Prasetyo</cp:lastModifiedBy>
  <cp:revision>1</cp:revision>
  <dcterms:created xsi:type="dcterms:W3CDTF">2026-09-28T07:10:05Z</dcterms:created>
  <dcterms:modified xsi:type="dcterms:W3CDTF">2026-09-28T07:10:05Z</dcterms:modified>
</cp:coreProperties>
</file>