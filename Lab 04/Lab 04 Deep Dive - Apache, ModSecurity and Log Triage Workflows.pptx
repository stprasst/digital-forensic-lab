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Companion session for Lab 04 - assumes the main deck was seen. Goal: triage reflexes, audit-log fluency, and the full worked breach. About 120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Five parts, ordered: triage recipes first (they power Challenge B), audit correlation second, then decode chains, then the case, then assignment.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five one-liners. Have everyone run the first two against logs.zip live before advancing. Point out the awk -F'"' trick for the user agent - the field sits between the fifth and sixth quote.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Correlation. The subtle point: access.log has second granularity, the audit log has microseconds - correlate by timestamp first, then confirm with the URI in section B. The sed range print is the clean way to lift one transaction.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Anomaly scoring. Read the verdict line field by field. Ask the class: why LFI=35 and not 5? (Multiple rules matched, each contributing points.) DETECTION_ONLY in the footer previews Challenge C's punchline.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Signature grep table - screenshot material. The escaping in the patterns (\.\., \+) is deliberate; students who type them literally learn why quoting matters.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Decode chains. The three one-liners on screen solve 90 percent of payload puzzles in this lab series. The char() example deliberately produces 'Zmx' - ask what that looks like (base64) before saying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Worked case part 1. Let students call out the outlier IP from slide 3's recipe before revealing. The ladder narrative: same endpoint, five depths, one size jump - then shadow denied. Least privilege is the unsung hero; say so.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Worked case part 2. The story: whoami (am I root? no - www-data), ls -la / (what is here? database.sql, important_note.txt), cat both. All from C and E sections - access.log only showed four innocent POSTs. Q6's count: 5 records.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Worked case part 3 and the flag reveal. The decode chain is the exam-grade moment: unquote_plus, chr() join, recognize base64, decode. After the reveal, remind: B and C are solo from here.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IOA vs IOC - the reporting discipline. Attempted (ladder warnings, 401s, denied shadow) vs successful (passwd content served, database read). The last row is the detection engineering takeaway: 980130 plus a 404-burst rule.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whole breach in one table - this is what their Challenge A writeup should look like. Ten rows, every one citing its evidence source.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Field notes. The five mistakes map to habits. Interaction: ask for a sixth (good answers: not checking the timezone offset, mixing transactions by assuming line order, ignoring the benign contrast case).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Assign deadlines and submission format. Remind: pre-lab before next session, B-xx / C-xx numbering, quotes not paraphrases. No spoilers on B or C - including the number of decode layers.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7FAFC"/>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7572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078"/>
                </a:solidFill>
                <a:latin typeface="Segoe UI"/>
                <a:ea typeface="Segoe UI"/>
                <a:cs typeface="Segoe U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F2233"/>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7572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078"/>
                </a:solidFill>
                <a:latin typeface="Segoe UI"/>
                <a:ea typeface="Segoe UI"/>
                <a:cs typeface="Segoe U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9692640" y="-1554480"/>
            <a:ext cx="4023360" cy="4023360"/>
          </a:xfrm>
          <a:prstGeom prst="ellipse">
            <a:avLst/>
          </a:prstGeom>
          <a:solidFill>
            <a:srgbClr val="14324A"/>
          </a:solidFill>
          <a:ln/>
        </p:spPr>
      </p:sp>
      <p:sp>
        <p:nvSpPr>
          <p:cNvPr id="3" name="Text 1"/>
          <p:cNvSpPr/>
          <p:nvPr/>
        </p:nvSpPr>
        <p:spPr>
          <a:xfrm>
            <a:off x="548640" y="1097280"/>
            <a:ext cx="9601200" cy="320040"/>
          </a:xfrm>
          <a:prstGeom prst="rect">
            <a:avLst/>
          </a:prstGeom>
          <a:noFill/>
          <a:ln/>
        </p:spPr>
        <p:txBody>
          <a:bodyPr wrap="square" lIns="0" tIns="0" rIns="0" bIns="0" rtlCol="0" anchor="ctr"/>
          <a:lstStyle/>
          <a:p>
            <a:pPr indent="0" marL="0">
              <a:buNone/>
            </a:pPr>
            <a:r>
              <a:rPr lang="en-US" sz="1250" b="1" spc="300" kern="0" dirty="0">
                <a:solidFill>
                  <a:srgbClr val="37DCF2"/>
                </a:solidFill>
                <a:latin typeface="Segoe UI" pitchFamily="34" charset="0"/>
                <a:ea typeface="Segoe UI" pitchFamily="34" charset="-122"/>
                <a:cs typeface="Segoe UI" pitchFamily="34" charset="-120"/>
              </a:rPr>
              <a:t>DIGITAL FORENSICS LABORATORY  ·  LAB 04  ·  COMPANION DECK</a:t>
            </a:r>
            <a:endParaRPr lang="en-US" sz="1250" dirty="0"/>
          </a:p>
        </p:txBody>
      </p:sp>
      <p:sp>
        <p:nvSpPr>
          <p:cNvPr id="4" name="Text 2"/>
          <p:cNvSpPr/>
          <p:nvPr/>
        </p:nvSpPr>
        <p:spPr>
          <a:xfrm>
            <a:off x="548640" y="1536192"/>
            <a:ext cx="10607040" cy="1920240"/>
          </a:xfrm>
          <a:prstGeom prst="rect">
            <a:avLst/>
          </a:prstGeom>
          <a:noFill/>
          <a:ln/>
        </p:spPr>
        <p:txBody>
          <a:bodyPr wrap="square" lIns="0" tIns="0" rIns="0" bIns="0" rtlCol="0" anchor="t"/>
          <a:lstStyle/>
          <a:p>
            <a:pPr indent="0" marL="0">
              <a:lnSpc>
                <a:spcPct val="104000"/>
              </a:lnSpc>
              <a:buNone/>
            </a:pPr>
            <a:r>
              <a:rPr lang="en-US" sz="4400" b="1" dirty="0">
                <a:solidFill>
                  <a:srgbClr val="FFFFFF"/>
                </a:solidFill>
                <a:latin typeface="Segoe UI" pitchFamily="34" charset="0"/>
                <a:ea typeface="Segoe UI" pitchFamily="34" charset="-122"/>
                <a:cs typeface="Segoe UI" pitchFamily="34" charset="-120"/>
              </a:rPr>
              <a:t>Deep Dive:</a:t>
            </a:r>
            <a:endParaRPr lang="en-US" sz="4400" dirty="0"/>
          </a:p>
          <a:p>
            <a:pPr indent="0" marL="0">
              <a:lnSpc>
                <a:spcPct val="104000"/>
              </a:lnSpc>
              <a:buNone/>
            </a:pPr>
            <a:r>
              <a:rPr lang="en-US" sz="4400" b="1" dirty="0">
                <a:solidFill>
                  <a:srgbClr val="FFFFFF"/>
                </a:solidFill>
                <a:latin typeface="Segoe UI" pitchFamily="34" charset="0"/>
                <a:ea typeface="Segoe UI" pitchFamily="34" charset="-122"/>
                <a:cs typeface="Segoe UI" pitchFamily="34" charset="-120"/>
              </a:rPr>
              <a:t>Apache, ModSecurity &amp; Log Triage</a:t>
            </a:r>
            <a:endParaRPr lang="en-US" sz="4400" dirty="0"/>
          </a:p>
        </p:txBody>
      </p:sp>
      <p:sp>
        <p:nvSpPr>
          <p:cNvPr id="5" name="Text 3"/>
          <p:cNvSpPr/>
          <p:nvPr/>
        </p:nvSpPr>
        <p:spPr>
          <a:xfrm>
            <a:off x="548640" y="3611880"/>
            <a:ext cx="8961120" cy="411480"/>
          </a:xfrm>
          <a:prstGeom prst="rect">
            <a:avLst/>
          </a:prstGeom>
          <a:noFill/>
          <a:ln/>
        </p:spPr>
        <p:txBody>
          <a:bodyPr wrap="square" lIns="0" tIns="0" rIns="0" bIns="0" rtlCol="0" anchor="ctr"/>
          <a:lstStyle/>
          <a:p>
            <a:pPr indent="0" marL="0">
              <a:buNone/>
            </a:pPr>
            <a:r>
              <a:rPr lang="en-US" sz="1700" dirty="0">
                <a:solidFill>
                  <a:srgbClr val="DCE9EE"/>
                </a:solidFill>
                <a:latin typeface="Segoe UI" pitchFamily="34" charset="0"/>
                <a:ea typeface="Segoe UI" pitchFamily="34" charset="-122"/>
                <a:cs typeface="Segoe UI" pitchFamily="34" charset="-120"/>
              </a:rPr>
              <a:t>The upstream breach case, solved together — the two new challenges stay yours.</a:t>
            </a:r>
            <a:endParaRPr lang="en-US" sz="1700" dirty="0"/>
          </a:p>
        </p:txBody>
      </p:sp>
      <p:sp>
        <p:nvSpPr>
          <p:cNvPr id="6" name="Text 4"/>
          <p:cNvSpPr/>
          <p:nvPr/>
        </p:nvSpPr>
        <p:spPr>
          <a:xfrm>
            <a:off x="548640" y="5897880"/>
            <a:ext cx="5486400" cy="685800"/>
          </a:xfrm>
          <a:prstGeom prst="rect">
            <a:avLst/>
          </a:prstGeom>
          <a:noFill/>
          <a:ln/>
        </p:spPr>
        <p:txBody>
          <a:bodyPr wrap="square" lIns="0" tIns="0" rIns="0" bIns="0" rtlCol="0" anchor="t"/>
          <a:lstStyle/>
          <a:p>
            <a:pPr indent="0" marL="0">
              <a:lnSpc>
                <a:spcPct val="115000"/>
              </a:lnSpc>
              <a:buNone/>
            </a:pPr>
            <a:r>
              <a:rPr lang="en-US" sz="1500" b="1" dirty="0">
                <a:solidFill>
                  <a:srgbClr val="FFFFFF"/>
                </a:solidFill>
                <a:latin typeface="Segoe UI" pitchFamily="34" charset="0"/>
                <a:ea typeface="Segoe UI" pitchFamily="34" charset="-122"/>
                <a:cs typeface="Segoe UI" pitchFamily="34" charset="-120"/>
              </a:rPr>
              <a:t>Stefanus Eko Prasetyo</a:t>
            </a:r>
            <a:endParaRPr lang="en-US" sz="1500" dirty="0"/>
          </a:p>
          <a:p>
            <a:pPr indent="0" marL="0">
              <a:lnSpc>
                <a:spcPct val="115000"/>
              </a:lnSpc>
              <a:buNone/>
            </a:pPr>
            <a:r>
              <a:rPr lang="en-US" sz="1500" dirty="0">
                <a:solidFill>
                  <a:srgbClr val="5B7078"/>
                </a:solidFill>
                <a:latin typeface="Segoe UI" pitchFamily="34" charset="0"/>
                <a:ea typeface="Segoe UI" pitchFamily="34" charset="-122"/>
                <a:cs typeface="Segoe UI" pitchFamily="34" charset="-120"/>
              </a:rPr>
              <a:t>Lab-4  ·  companion to the Lab 04 lecture</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lIns="0" tIns="0" rIns="0" bIns="0" rtlCol="0" anchor="ctr"/>
          <a:lstStyle/>
          <a:p>
            <a:pPr indent="0" marL="0">
              <a:buNone/>
            </a:pPr>
            <a:r>
              <a:rPr lang="en-US" sz="1200" b="1" spc="300" kern="0" dirty="0">
                <a:solidFill>
                  <a:srgbClr val="1B6B7A"/>
                </a:solidFill>
                <a:latin typeface="Segoe UI" pitchFamily="34" charset="0"/>
                <a:ea typeface="Segoe UI" pitchFamily="34" charset="-122"/>
                <a:cs typeface="Segoe UI" pitchFamily="34" charset="-120"/>
              </a:rPr>
              <a:t>SESSION PLAN</a:t>
            </a:r>
            <a:endParaRPr lang="en-US" sz="1200" dirty="0"/>
          </a:p>
        </p:txBody>
      </p:sp>
      <p:sp>
        <p:nvSpPr>
          <p:cNvPr id="3" name="Text 1"/>
          <p:cNvSpPr/>
          <p:nvPr/>
        </p:nvSpPr>
        <p:spPr>
          <a:xfrm>
            <a:off x="548640" y="658368"/>
            <a:ext cx="11091672" cy="777240"/>
          </a:xfrm>
          <a:prstGeom prst="rect">
            <a:avLst/>
          </a:prstGeom>
          <a:noFill/>
          <a:ln/>
        </p:spPr>
        <p:txBody>
          <a:bodyPr wrap="square" lIns="0" tIns="0" rIns="0" bIns="0" rtlCol="0" anchor="ctr"/>
          <a:lstStyle/>
          <a:p>
            <a:pPr indent="0" marL="0">
              <a:buNone/>
            </a:pPr>
            <a:r>
              <a:rPr lang="en-US" sz="3200" b="1" dirty="0">
                <a:solidFill>
                  <a:srgbClr val="16232B"/>
                </a:solidFill>
                <a:latin typeface="Segoe UI" pitchFamily="34" charset="0"/>
                <a:ea typeface="Segoe UI" pitchFamily="34" charset="-122"/>
                <a:cs typeface="Segoe UI" pitchFamily="34" charset="-120"/>
              </a:rPr>
              <a:t>What we cover today</a:t>
            </a:r>
            <a:endParaRPr lang="en-US" sz="3200" dirty="0"/>
          </a:p>
        </p:txBody>
      </p:sp>
      <p:sp>
        <p:nvSpPr>
          <p:cNvPr id="4" name="Shape 2"/>
          <p:cNvSpPr/>
          <p:nvPr/>
        </p:nvSpPr>
        <p:spPr>
          <a:xfrm>
            <a:off x="548640" y="1801368"/>
            <a:ext cx="365760" cy="365760"/>
          </a:xfrm>
          <a:prstGeom prst="ellipse">
            <a:avLst/>
          </a:prstGeom>
          <a:solidFill>
            <a:srgbClr val="1B6B7A"/>
          </a:solidFill>
          <a:ln/>
        </p:spPr>
      </p:sp>
      <p:sp>
        <p:nvSpPr>
          <p:cNvPr id="5" name="Text 3"/>
          <p:cNvSpPr/>
          <p:nvPr/>
        </p:nvSpPr>
        <p:spPr>
          <a:xfrm>
            <a:off x="548640" y="178308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1</a:t>
            </a:r>
            <a:endParaRPr lang="en-US" sz="1300" dirty="0"/>
          </a:p>
        </p:txBody>
      </p:sp>
      <p:sp>
        <p:nvSpPr>
          <p:cNvPr id="6" name="Text 4"/>
          <p:cNvSpPr/>
          <p:nvPr/>
        </p:nvSpPr>
        <p:spPr>
          <a:xfrm>
            <a:off x="1115568" y="1746504"/>
            <a:ext cx="9875520" cy="347472"/>
          </a:xfrm>
          <a:prstGeom prst="rect">
            <a:avLst/>
          </a:prstGeom>
          <a:noFill/>
          <a:ln/>
        </p:spPr>
        <p:txBody>
          <a:bodyPr wrap="square" lIns="0" tIns="0" rIns="0" bIns="0" rtlCol="0" anchor="ctr"/>
          <a:lstStyle/>
          <a:p>
            <a:pPr indent="0" marL="0">
              <a:buNone/>
            </a:pPr>
            <a:r>
              <a:rPr lang="en-US" sz="1800" b="1" dirty="0">
                <a:solidFill>
                  <a:srgbClr val="16232B"/>
                </a:solidFill>
                <a:latin typeface="Segoe UI" pitchFamily="34" charset="0"/>
                <a:ea typeface="Segoe UI" pitchFamily="34" charset="-122"/>
                <a:cs typeface="Segoe UI" pitchFamily="34" charset="-120"/>
              </a:rPr>
              <a:t>Log triage recipes</a:t>
            </a:r>
            <a:endParaRPr lang="en-US" sz="1800" dirty="0"/>
          </a:p>
        </p:txBody>
      </p:sp>
      <p:sp>
        <p:nvSpPr>
          <p:cNvPr id="7" name="Text 5"/>
          <p:cNvSpPr/>
          <p:nvPr/>
        </p:nvSpPr>
        <p:spPr>
          <a:xfrm>
            <a:off x="1115568" y="2093976"/>
            <a:ext cx="9875520" cy="411480"/>
          </a:xfrm>
          <a:prstGeom prst="rect">
            <a:avLst/>
          </a:prstGeom>
          <a:noFill/>
          <a:ln/>
        </p:spPr>
        <p:txBody>
          <a:bodyPr wrap="square" lIns="0" tIns="0" rIns="0" bIns="0" rtlCol="0" anchor="ctr"/>
          <a:lstStyle/>
          <a:p>
            <a:pPr indent="0" marL="0">
              <a:buNone/>
            </a:pPr>
            <a:r>
              <a:rPr lang="en-US" sz="1250" dirty="0">
                <a:solidFill>
                  <a:srgbClr val="5B7078"/>
                </a:solidFill>
                <a:latin typeface="Segoe UI" pitchFamily="34" charset="0"/>
                <a:ea typeface="Segoe UI" pitchFamily="34" charset="-122"/>
                <a:cs typeface="Segoe UI" pitchFamily="34" charset="-120"/>
              </a:rPr>
              <a:t>awk/sort/uniq patterns that turn 1,488 lines into 5 findings</a:t>
            </a:r>
            <a:endParaRPr lang="en-US" sz="1250" dirty="0"/>
          </a:p>
        </p:txBody>
      </p:sp>
      <p:sp>
        <p:nvSpPr>
          <p:cNvPr id="8" name="Shape 6"/>
          <p:cNvSpPr/>
          <p:nvPr/>
        </p:nvSpPr>
        <p:spPr>
          <a:xfrm>
            <a:off x="548640" y="2734056"/>
            <a:ext cx="365760" cy="365760"/>
          </a:xfrm>
          <a:prstGeom prst="ellipse">
            <a:avLst/>
          </a:prstGeom>
          <a:solidFill>
            <a:srgbClr val="1B6B7A"/>
          </a:solidFill>
          <a:ln/>
        </p:spPr>
      </p:sp>
      <p:sp>
        <p:nvSpPr>
          <p:cNvPr id="9" name="Text 7"/>
          <p:cNvSpPr/>
          <p:nvPr/>
        </p:nvSpPr>
        <p:spPr>
          <a:xfrm>
            <a:off x="548640" y="271576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2</a:t>
            </a:r>
            <a:endParaRPr lang="en-US" sz="1300" dirty="0"/>
          </a:p>
        </p:txBody>
      </p:sp>
      <p:sp>
        <p:nvSpPr>
          <p:cNvPr id="10" name="Text 8"/>
          <p:cNvSpPr/>
          <p:nvPr/>
        </p:nvSpPr>
        <p:spPr>
          <a:xfrm>
            <a:off x="1115568" y="2679192"/>
            <a:ext cx="9875520" cy="347472"/>
          </a:xfrm>
          <a:prstGeom prst="rect">
            <a:avLst/>
          </a:prstGeom>
          <a:noFill/>
          <a:ln/>
        </p:spPr>
        <p:txBody>
          <a:bodyPr wrap="square" lIns="0" tIns="0" rIns="0" bIns="0" rtlCol="0" anchor="ctr"/>
          <a:lstStyle/>
          <a:p>
            <a:pPr indent="0" marL="0">
              <a:buNone/>
            </a:pPr>
            <a:r>
              <a:rPr lang="en-US" sz="1800" b="1" dirty="0">
                <a:solidFill>
                  <a:srgbClr val="16232B"/>
                </a:solidFill>
                <a:latin typeface="Segoe UI" pitchFamily="34" charset="0"/>
                <a:ea typeface="Segoe UI" pitchFamily="34" charset="-122"/>
                <a:cs typeface="Segoe UI" pitchFamily="34" charset="-120"/>
              </a:rPr>
              <a:t>The audit log, section by section</a:t>
            </a:r>
            <a:endParaRPr lang="en-US" sz="1800" dirty="0"/>
          </a:p>
        </p:txBody>
      </p:sp>
      <p:sp>
        <p:nvSpPr>
          <p:cNvPr id="11" name="Text 9"/>
          <p:cNvSpPr/>
          <p:nvPr/>
        </p:nvSpPr>
        <p:spPr>
          <a:xfrm>
            <a:off x="1115568" y="3026664"/>
            <a:ext cx="9875520" cy="411480"/>
          </a:xfrm>
          <a:prstGeom prst="rect">
            <a:avLst/>
          </a:prstGeom>
          <a:noFill/>
          <a:ln/>
        </p:spPr>
        <p:txBody>
          <a:bodyPr wrap="square" lIns="0" tIns="0" rIns="0" bIns="0" rtlCol="0" anchor="ctr"/>
          <a:lstStyle/>
          <a:p>
            <a:pPr indent="0" marL="0">
              <a:buNone/>
            </a:pPr>
            <a:r>
              <a:rPr lang="en-US" sz="1250" dirty="0">
                <a:solidFill>
                  <a:srgbClr val="5B7078"/>
                </a:solidFill>
                <a:latin typeface="Segoe UI" pitchFamily="34" charset="0"/>
                <a:ea typeface="Segoe UI" pitchFamily="34" charset="-122"/>
                <a:cs typeface="Segoe UI" pitchFamily="34" charset="-120"/>
              </a:rPr>
              <a:t>A/B/C/F/E/H - and how to correlate transactions to access lines</a:t>
            </a:r>
            <a:endParaRPr lang="en-US" sz="1250" dirty="0"/>
          </a:p>
        </p:txBody>
      </p:sp>
      <p:sp>
        <p:nvSpPr>
          <p:cNvPr id="12" name="Shape 10"/>
          <p:cNvSpPr/>
          <p:nvPr/>
        </p:nvSpPr>
        <p:spPr>
          <a:xfrm>
            <a:off x="548640" y="3666744"/>
            <a:ext cx="365760" cy="365760"/>
          </a:xfrm>
          <a:prstGeom prst="ellipse">
            <a:avLst/>
          </a:prstGeom>
          <a:solidFill>
            <a:srgbClr val="1B6B7A"/>
          </a:solidFill>
          <a:ln/>
        </p:spPr>
      </p:sp>
      <p:sp>
        <p:nvSpPr>
          <p:cNvPr id="13" name="Text 11"/>
          <p:cNvSpPr/>
          <p:nvPr/>
        </p:nvSpPr>
        <p:spPr>
          <a:xfrm>
            <a:off x="548640" y="364845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3</a:t>
            </a:r>
            <a:endParaRPr lang="en-US" sz="1300" dirty="0"/>
          </a:p>
        </p:txBody>
      </p:sp>
      <p:sp>
        <p:nvSpPr>
          <p:cNvPr id="14" name="Text 12"/>
          <p:cNvSpPr/>
          <p:nvPr/>
        </p:nvSpPr>
        <p:spPr>
          <a:xfrm>
            <a:off x="1115568" y="3611880"/>
            <a:ext cx="9875520" cy="347472"/>
          </a:xfrm>
          <a:prstGeom prst="rect">
            <a:avLst/>
          </a:prstGeom>
          <a:noFill/>
          <a:ln/>
        </p:spPr>
        <p:txBody>
          <a:bodyPr wrap="square" lIns="0" tIns="0" rIns="0" bIns="0" rtlCol="0" anchor="ctr"/>
          <a:lstStyle/>
          <a:p>
            <a:pPr indent="0" marL="0">
              <a:buNone/>
            </a:pPr>
            <a:r>
              <a:rPr lang="en-US" sz="1800" b="1" dirty="0">
                <a:solidFill>
                  <a:srgbClr val="16232B"/>
                </a:solidFill>
                <a:latin typeface="Segoe UI" pitchFamily="34" charset="0"/>
                <a:ea typeface="Segoe UI" pitchFamily="34" charset="-122"/>
                <a:cs typeface="Segoe UI" pitchFamily="34" charset="-120"/>
              </a:rPr>
              <a:t>CRS and anomaly scoring</a:t>
            </a:r>
            <a:endParaRPr lang="en-US" sz="1800" dirty="0"/>
          </a:p>
        </p:txBody>
      </p:sp>
      <p:sp>
        <p:nvSpPr>
          <p:cNvPr id="15" name="Text 13"/>
          <p:cNvSpPr/>
          <p:nvPr/>
        </p:nvSpPr>
        <p:spPr>
          <a:xfrm>
            <a:off x="1115568" y="3959352"/>
            <a:ext cx="9875520" cy="411480"/>
          </a:xfrm>
          <a:prstGeom prst="rect">
            <a:avLst/>
          </a:prstGeom>
          <a:noFill/>
          <a:ln/>
        </p:spPr>
        <p:txBody>
          <a:bodyPr wrap="square" lIns="0" tIns="0" rIns="0" bIns="0" rtlCol="0" anchor="ctr"/>
          <a:lstStyle/>
          <a:p>
            <a:pPr indent="0" marL="0">
              <a:buNone/>
            </a:pPr>
            <a:r>
              <a:rPr lang="en-US" sz="1250" dirty="0">
                <a:solidFill>
                  <a:srgbClr val="5B7078"/>
                </a:solidFill>
                <a:latin typeface="Segoe UI" pitchFamily="34" charset="0"/>
                <a:ea typeface="Segoe UI" pitchFamily="34" charset="-122"/>
                <a:cs typeface="Segoe UI" pitchFamily="34" charset="-120"/>
              </a:rPr>
              <a:t>what the rule IDs mean and how 980130 adds up the verdict</a:t>
            </a:r>
            <a:endParaRPr lang="en-US" sz="1250" dirty="0"/>
          </a:p>
        </p:txBody>
      </p:sp>
      <p:sp>
        <p:nvSpPr>
          <p:cNvPr id="16" name="Shape 14"/>
          <p:cNvSpPr/>
          <p:nvPr/>
        </p:nvSpPr>
        <p:spPr>
          <a:xfrm>
            <a:off x="548640" y="4599432"/>
            <a:ext cx="365760" cy="365760"/>
          </a:xfrm>
          <a:prstGeom prst="ellipse">
            <a:avLst/>
          </a:prstGeom>
          <a:solidFill>
            <a:srgbClr val="1B6B7A"/>
          </a:solidFill>
          <a:ln/>
        </p:spPr>
      </p:sp>
      <p:sp>
        <p:nvSpPr>
          <p:cNvPr id="17" name="Text 15"/>
          <p:cNvSpPr/>
          <p:nvPr/>
        </p:nvSpPr>
        <p:spPr>
          <a:xfrm>
            <a:off x="548640" y="458114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4</a:t>
            </a:r>
            <a:endParaRPr lang="en-US" sz="1300" dirty="0"/>
          </a:p>
        </p:txBody>
      </p:sp>
      <p:sp>
        <p:nvSpPr>
          <p:cNvPr id="18" name="Text 16"/>
          <p:cNvSpPr/>
          <p:nvPr/>
        </p:nvSpPr>
        <p:spPr>
          <a:xfrm>
            <a:off x="1115568" y="4544568"/>
            <a:ext cx="9875520" cy="347472"/>
          </a:xfrm>
          <a:prstGeom prst="rect">
            <a:avLst/>
          </a:prstGeom>
          <a:noFill/>
          <a:ln/>
        </p:spPr>
        <p:txBody>
          <a:bodyPr wrap="square" lIns="0" tIns="0" rIns="0" bIns="0" rtlCol="0" anchor="ctr"/>
          <a:lstStyle/>
          <a:p>
            <a:pPr indent="0" marL="0">
              <a:buNone/>
            </a:pPr>
            <a:r>
              <a:rPr lang="en-US" sz="1800" b="1" dirty="0">
                <a:solidFill>
                  <a:srgbClr val="16232B"/>
                </a:solidFill>
                <a:latin typeface="Segoe UI" pitchFamily="34" charset="0"/>
                <a:ea typeface="Segoe UI" pitchFamily="34" charset="-122"/>
                <a:cs typeface="Segoe UI" pitchFamily="34" charset="-120"/>
              </a:rPr>
              <a:t>Decode chains</a:t>
            </a:r>
            <a:endParaRPr lang="en-US" sz="1800" dirty="0"/>
          </a:p>
        </p:txBody>
      </p:sp>
      <p:sp>
        <p:nvSpPr>
          <p:cNvPr id="19" name="Text 17"/>
          <p:cNvSpPr/>
          <p:nvPr/>
        </p:nvSpPr>
        <p:spPr>
          <a:xfrm>
            <a:off x="1115568" y="4892040"/>
            <a:ext cx="9875520" cy="411480"/>
          </a:xfrm>
          <a:prstGeom prst="rect">
            <a:avLst/>
          </a:prstGeom>
          <a:noFill/>
          <a:ln/>
        </p:spPr>
        <p:txBody>
          <a:bodyPr wrap="square" lIns="0" tIns="0" rIns="0" bIns="0" rtlCol="0" anchor="ctr"/>
          <a:lstStyle/>
          <a:p>
            <a:pPr indent="0" marL="0">
              <a:buNone/>
            </a:pPr>
            <a:r>
              <a:rPr lang="en-US" sz="1250" dirty="0">
                <a:solidFill>
                  <a:srgbClr val="5B7078"/>
                </a:solidFill>
                <a:latin typeface="Segoe UI" pitchFamily="34" charset="0"/>
                <a:ea typeface="Segoe UI" pitchFamily="34" charset="-122"/>
                <a:cs typeface="Segoe UI" pitchFamily="34" charset="-120"/>
              </a:rPr>
              <a:t>URL, double-URL, base64, char() - payloads in layers</a:t>
            </a:r>
            <a:endParaRPr lang="en-US" sz="1250" dirty="0"/>
          </a:p>
        </p:txBody>
      </p:sp>
      <p:sp>
        <p:nvSpPr>
          <p:cNvPr id="20" name="Shape 18"/>
          <p:cNvSpPr/>
          <p:nvPr/>
        </p:nvSpPr>
        <p:spPr>
          <a:xfrm>
            <a:off x="548640" y="5532120"/>
            <a:ext cx="365760" cy="365760"/>
          </a:xfrm>
          <a:prstGeom prst="ellipse">
            <a:avLst/>
          </a:prstGeom>
          <a:solidFill>
            <a:srgbClr val="1B6B7A"/>
          </a:solidFill>
          <a:ln/>
        </p:spPr>
      </p:sp>
      <p:sp>
        <p:nvSpPr>
          <p:cNvPr id="21" name="Text 19"/>
          <p:cNvSpPr/>
          <p:nvPr/>
        </p:nvSpPr>
        <p:spPr>
          <a:xfrm>
            <a:off x="548640" y="551383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5</a:t>
            </a:r>
            <a:endParaRPr lang="en-US" sz="1300" dirty="0"/>
          </a:p>
        </p:txBody>
      </p:sp>
      <p:sp>
        <p:nvSpPr>
          <p:cNvPr id="22" name="Text 20"/>
          <p:cNvSpPr/>
          <p:nvPr/>
        </p:nvSpPr>
        <p:spPr>
          <a:xfrm>
            <a:off x="1115568" y="5477256"/>
            <a:ext cx="9875520" cy="347472"/>
          </a:xfrm>
          <a:prstGeom prst="rect">
            <a:avLst/>
          </a:prstGeom>
          <a:noFill/>
          <a:ln/>
        </p:spPr>
        <p:txBody>
          <a:bodyPr wrap="square" lIns="0" tIns="0" rIns="0" bIns="0" rtlCol="0" anchor="ctr"/>
          <a:lstStyle/>
          <a:p>
            <a:pPr indent="0" marL="0">
              <a:buNone/>
            </a:pPr>
            <a:r>
              <a:rPr lang="en-US" sz="1800" b="1" dirty="0">
                <a:solidFill>
                  <a:srgbClr val="16232B"/>
                </a:solidFill>
                <a:latin typeface="Segoe UI" pitchFamily="34" charset="0"/>
                <a:ea typeface="Segoe UI" pitchFamily="34" charset="-122"/>
                <a:cs typeface="Segoe UI" pitchFamily="34" charset="-120"/>
              </a:rPr>
              <a:t>Worked case + your turn</a:t>
            </a:r>
            <a:endParaRPr lang="en-US" sz="1800" dirty="0"/>
          </a:p>
        </p:txBody>
      </p:sp>
      <p:sp>
        <p:nvSpPr>
          <p:cNvPr id="23" name="Text 21"/>
          <p:cNvSpPr/>
          <p:nvPr/>
        </p:nvSpPr>
        <p:spPr>
          <a:xfrm>
            <a:off x="1115568" y="5824728"/>
            <a:ext cx="9875520" cy="411480"/>
          </a:xfrm>
          <a:prstGeom prst="rect">
            <a:avLst/>
          </a:prstGeom>
          <a:noFill/>
          <a:ln/>
        </p:spPr>
        <p:txBody>
          <a:bodyPr wrap="square" lIns="0" tIns="0" rIns="0" bIns="0" rtlCol="0" anchor="ctr"/>
          <a:lstStyle/>
          <a:p>
            <a:pPr indent="0" marL="0">
              <a:buNone/>
            </a:pPr>
            <a:r>
              <a:rPr lang="en-US" sz="1250" dirty="0">
                <a:solidFill>
                  <a:srgbClr val="5B7078"/>
                </a:solidFill>
                <a:latin typeface="Segoe UI" pitchFamily="34" charset="0"/>
                <a:ea typeface="Segoe UI" pitchFamily="34" charset="-122"/>
                <a:cs typeface="Segoe UI" pitchFamily="34" charset="-120"/>
              </a:rPr>
              <a:t>the breach, end to end; then Challenges B and C</a:t>
            </a:r>
            <a:endParaRPr lang="en-US" sz="1250" dirty="0"/>
          </a:p>
        </p:txBody>
      </p:sp>
      <p:sp>
        <p:nvSpPr>
          <p:cNvPr id="25" name="Slide Number Placeholder 0"/>
          <p:cNvSpPr>
            <a:spLocks noGrp="1"/>
          </p:cNvSpPr>
          <p:nvPr>
            <p:ph type="sldNum" sz="quarter" idx="4294967295"/>
          </p:nvPr>
        </p:nvSpPr>
        <p:spPr>
          <a:xfrm>
            <a:off x="1147572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078"/>
                </a:solidFill>
                <a:latin typeface="Segoe UI"/>
                <a:ea typeface="Segoe UI"/>
                <a:cs typeface="Segoe U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lIns="0" tIns="0" rIns="0" bIns="0" rtlCol="0" anchor="ctr"/>
          <a:lstStyle/>
          <a:p>
            <a:pPr indent="0" marL="0">
              <a:buNone/>
            </a:pPr>
            <a:r>
              <a:rPr lang="en-US" sz="1200" b="1" spc="300" kern="0" dirty="0">
                <a:solidFill>
                  <a:srgbClr val="1B6B7A"/>
                </a:solidFill>
                <a:latin typeface="Segoe UI" pitchFamily="34" charset="0"/>
                <a:ea typeface="Segoe UI" pitchFamily="34" charset="-122"/>
                <a:cs typeface="Segoe UI" pitchFamily="34" charset="-120"/>
              </a:rPr>
              <a:t>TRIAGE · 1 OF 2</a:t>
            </a:r>
            <a:endParaRPr lang="en-US" sz="1200" dirty="0"/>
          </a:p>
        </p:txBody>
      </p:sp>
      <p:sp>
        <p:nvSpPr>
          <p:cNvPr id="3" name="Text 1"/>
          <p:cNvSpPr/>
          <p:nvPr/>
        </p:nvSpPr>
        <p:spPr>
          <a:xfrm>
            <a:off x="548640" y="658368"/>
            <a:ext cx="11091672" cy="777240"/>
          </a:xfrm>
          <a:prstGeom prst="rect">
            <a:avLst/>
          </a:prstGeom>
          <a:noFill/>
          <a:ln/>
        </p:spPr>
        <p:txBody>
          <a:bodyPr wrap="square" lIns="0" tIns="0" rIns="0" bIns="0" rtlCol="0" anchor="ctr"/>
          <a:lstStyle/>
          <a:p>
            <a:pPr indent="0" marL="0">
              <a:buNone/>
            </a:pPr>
            <a:r>
              <a:rPr lang="en-US" sz="3200" b="1" dirty="0">
                <a:solidFill>
                  <a:srgbClr val="16232B"/>
                </a:solidFill>
                <a:latin typeface="Segoe UI" pitchFamily="34" charset="0"/>
                <a:ea typeface="Segoe UI" pitchFamily="34" charset="-122"/>
                <a:cs typeface="Segoe UI" pitchFamily="34" charset="-120"/>
              </a:rPr>
              <a:t>Five one-liners that find the attacker</a:t>
            </a:r>
            <a:endParaRPr lang="en-US" sz="3200" dirty="0"/>
          </a:p>
        </p:txBody>
      </p:sp>
      <p:sp>
        <p:nvSpPr>
          <p:cNvPr id="4" name="Shape 2"/>
          <p:cNvSpPr/>
          <p:nvPr/>
        </p:nvSpPr>
        <p:spPr>
          <a:xfrm>
            <a:off x="548640" y="1783080"/>
            <a:ext cx="6949440" cy="4480560"/>
          </a:xfrm>
          <a:prstGeom prst="roundRect">
            <a:avLst>
              <a:gd name="adj" fmla="val 1837"/>
            </a:avLst>
          </a:prstGeom>
          <a:solidFill>
            <a:srgbClr val="0B1B26"/>
          </a:solidFill>
          <a:ln w="12700">
            <a:solidFill>
              <a:srgbClr val="1E3646"/>
            </a:solidFill>
            <a:prstDash val="solid"/>
          </a:ln>
          <a:effectLst>
            <a:outerShdw sx="100000" sy="100000" kx="0" ky="0" algn="bl" rotWithShape="0" blurRad="88900" dist="25400" dir="2700000">
              <a:srgbClr val="0F2233">
                <a:alpha val="18000"/>
              </a:srgbClr>
            </a:outerShdw>
          </a:effectLst>
        </p:spPr>
      </p:sp>
      <p:sp>
        <p:nvSpPr>
          <p:cNvPr id="5" name="Shape 3"/>
          <p:cNvSpPr/>
          <p:nvPr/>
        </p:nvSpPr>
        <p:spPr>
          <a:xfrm>
            <a:off x="731520" y="1929384"/>
            <a:ext cx="100584" cy="100584"/>
          </a:xfrm>
          <a:prstGeom prst="ellipse">
            <a:avLst/>
          </a:prstGeom>
          <a:solidFill>
            <a:srgbClr val="E8686A"/>
          </a:solidFill>
          <a:ln/>
        </p:spPr>
      </p:sp>
      <p:sp>
        <p:nvSpPr>
          <p:cNvPr id="6" name="Shape 4"/>
          <p:cNvSpPr/>
          <p:nvPr/>
        </p:nvSpPr>
        <p:spPr>
          <a:xfrm>
            <a:off x="950976" y="1929384"/>
            <a:ext cx="100584" cy="100584"/>
          </a:xfrm>
          <a:prstGeom prst="ellipse">
            <a:avLst/>
          </a:prstGeom>
          <a:solidFill>
            <a:srgbClr val="E9C46A"/>
          </a:solidFill>
          <a:ln/>
        </p:spPr>
      </p:sp>
      <p:sp>
        <p:nvSpPr>
          <p:cNvPr id="7" name="Shape 5"/>
          <p:cNvSpPr/>
          <p:nvPr/>
        </p:nvSpPr>
        <p:spPr>
          <a:xfrm>
            <a:off x="1170432" y="1929384"/>
            <a:ext cx="100584" cy="100584"/>
          </a:xfrm>
          <a:prstGeom prst="ellipse">
            <a:avLst/>
          </a:prstGeom>
          <a:solidFill>
            <a:srgbClr val="57B894"/>
          </a:solidFill>
          <a:ln/>
        </p:spPr>
      </p:sp>
      <p:sp>
        <p:nvSpPr>
          <p:cNvPr id="8" name="Text 6"/>
          <p:cNvSpPr/>
          <p:nvPr/>
        </p:nvSpPr>
        <p:spPr>
          <a:xfrm>
            <a:off x="1463040" y="1874520"/>
            <a:ext cx="5852160" cy="237744"/>
          </a:xfrm>
          <a:prstGeom prst="rect">
            <a:avLst/>
          </a:prstGeom>
          <a:noFill/>
          <a:ln/>
        </p:spPr>
        <p:txBody>
          <a:bodyPr wrap="square" lIns="0" tIns="0" rIns="0" bIns="0" rtlCol="0" anchor="ctr"/>
          <a:lstStyle/>
          <a:p>
            <a:pPr algn="r" indent="0" marL="0">
              <a:buNone/>
            </a:pPr>
            <a:r>
              <a:rPr lang="en-US" sz="1000" dirty="0">
                <a:solidFill>
                  <a:srgbClr val="6C8A96"/>
                </a:solidFill>
                <a:latin typeface="Consolas" pitchFamily="34" charset="0"/>
                <a:ea typeface="Consolas" pitchFamily="34" charset="-122"/>
                <a:cs typeface="Consolas" pitchFamily="34" charset="-120"/>
              </a:rPr>
              <a:t>root@dfir:/var/log/apache2#</a:t>
            </a:r>
            <a:endParaRPr lang="en-US" sz="1000" dirty="0"/>
          </a:p>
        </p:txBody>
      </p:sp>
      <p:sp>
        <p:nvSpPr>
          <p:cNvPr id="9" name="Text 7"/>
          <p:cNvSpPr/>
          <p:nvPr/>
        </p:nvSpPr>
        <p:spPr>
          <a:xfrm>
            <a:off x="804672" y="2167128"/>
            <a:ext cx="6446520" cy="3931920"/>
          </a:xfrm>
          <a:prstGeom prst="rect">
            <a:avLst/>
          </a:prstGeom>
          <a:noFill/>
          <a:ln/>
        </p:spPr>
        <p:txBody>
          <a:bodyPr wrap="square" lIns="0" tIns="0" rIns="0" bIns="0" rtlCol="0" anchor="t"/>
          <a:lstStyle/>
          <a:p>
            <a:pPr algn="l" indent="0" marL="0">
              <a:lnSpc>
                <a:spcPct val="118000"/>
              </a:lnSpc>
              <a:buNone/>
            </a:pPr>
            <a:r>
              <a:rPr lang="en-US" sz="1150" dirty="0">
                <a:solidFill>
                  <a:srgbClr val="37DCF2"/>
                </a:solidFill>
                <a:latin typeface="Consolas" pitchFamily="34" charset="0"/>
                <a:ea typeface="Consolas" pitchFamily="34" charset="-122"/>
                <a:cs typeface="Consolas" pitchFamily="34" charset="-120"/>
              </a:rPr>
              <a:t>$ awk '{print $1}' access.log | sort | uniq -c | sort -rn</a:t>
            </a:r>
            <a:endParaRPr lang="en-US" sz="1150" dirty="0"/>
          </a:p>
          <a:p>
            <a:pPr algn="l" indent="0" marL="0">
              <a:lnSpc>
                <a:spcPct val="118000"/>
              </a:lnSpc>
              <a:buNone/>
            </a:pPr>
            <a:r>
              <a:rPr lang="en-US" sz="1150" b="1" dirty="0">
                <a:solidFill>
                  <a:srgbClr val="FFD166"/>
                </a:solidFill>
                <a:latin typeface="Consolas" pitchFamily="34" charset="0"/>
                <a:ea typeface="Consolas" pitchFamily="34" charset="-122"/>
                <a:cs typeface="Consolas" pitchFamily="34" charset="-120"/>
              </a:rPr>
              <a:t>   38 192.168.0.106     # everyone else is noise-free</a:t>
            </a:r>
            <a:endParaRPr lang="en-US" sz="1150" dirty="0"/>
          </a:p>
          <a:p>
            <a:pPr algn="l" indent="0" marL="0">
              <a:lnSpc>
                <a:spcPct val="118000"/>
              </a:lnSpc>
              <a:buNone/>
            </a:pPr>
            <a:r>
              <a:rPr lang="en-US" sz="1150" dirty="0">
                <a:solidFill>
                  <a:srgbClr val="37DCF2"/>
                </a:solidFill>
                <a:latin typeface="Consolas" pitchFamily="34" charset="0"/>
                <a:ea typeface="Consolas" pitchFamily="34" charset="-122"/>
                <a:cs typeface="Consolas" pitchFamily="34" charset="-120"/>
              </a:rPr>
              <a:t>$ awk '{print $9}' access.log | sort | uniq -c</a:t>
            </a:r>
            <a:endParaRPr lang="en-US" sz="1150" dirty="0"/>
          </a:p>
          <a:p>
            <a:pPr algn="l" indent="0" marL="0">
              <a:lnSpc>
                <a:spcPct val="118000"/>
              </a:lnSpc>
              <a:buNone/>
            </a:pPr>
            <a:r>
              <a:rPr lang="en-US" sz="1150" dirty="0">
                <a:solidFill>
                  <a:srgbClr val="37DCF2"/>
                </a:solidFill>
                <a:latin typeface="Consolas" pitchFamily="34" charset="0"/>
                <a:ea typeface="Consolas" pitchFamily="34" charset="-122"/>
                <a:cs typeface="Consolas" pitchFamily="34" charset="-120"/>
              </a:rPr>
              <a:t>$ awk -F'"' '{print $6}' access.log | sort | uniq -c</a:t>
            </a:r>
            <a:endParaRPr lang="en-US" sz="1150" dirty="0"/>
          </a:p>
          <a:p>
            <a:pPr algn="l" indent="0" marL="0">
              <a:lnSpc>
                <a:spcPct val="118000"/>
              </a:lnSpc>
              <a:buNone/>
            </a:pPr>
            <a:r>
              <a:rPr lang="en-US" sz="1150" dirty="0">
                <a:solidFill>
                  <a:srgbClr val="6C8A96"/>
                </a:solidFill>
                <a:latin typeface="Consolas" pitchFamily="34" charset="0"/>
                <a:ea typeface="Consolas" pitchFamily="34" charset="-122"/>
                <a:cs typeface="Consolas" pitchFamily="34" charset="-120"/>
              </a:rPr>
              <a:t>   # $6 between the quotes = user agent</a:t>
            </a:r>
            <a:endParaRPr lang="en-US" sz="1150" dirty="0"/>
          </a:p>
          <a:p>
            <a:pPr algn="l" indent="0" marL="0">
              <a:lnSpc>
                <a:spcPct val="118000"/>
              </a:lnSpc>
              <a:buNone/>
            </a:pPr>
            <a:r>
              <a:rPr lang="en-US" sz="1150" dirty="0">
                <a:solidFill>
                  <a:srgbClr val="37DCF2"/>
                </a:solidFill>
                <a:latin typeface="Consolas" pitchFamily="34" charset="0"/>
                <a:ea typeface="Consolas" pitchFamily="34" charset="-122"/>
                <a:cs typeface="Consolas" pitchFamily="34" charset="-120"/>
              </a:rPr>
              <a:t>$ awk '$9==404' access.log | wc -l      # scan bursts</a:t>
            </a:r>
            <a:endParaRPr lang="en-US" sz="1150" dirty="0"/>
          </a:p>
          <a:p>
            <a:pPr algn="l" indent="0" marL="0">
              <a:lnSpc>
                <a:spcPct val="118000"/>
              </a:lnSpc>
              <a:buNone/>
            </a:pPr>
            <a:r>
              <a:rPr lang="en-US" sz="1150" dirty="0">
                <a:solidFill>
                  <a:srgbClr val="37DCF2"/>
                </a:solidFill>
                <a:latin typeface="Consolas" pitchFamily="34" charset="0"/>
                <a:ea typeface="Consolas" pitchFamily="34" charset="-122"/>
                <a:cs typeface="Consolas" pitchFamily="34" charset="-120"/>
              </a:rPr>
              <a:t>$ awk '{print $10}' access.log | sort -rn | head -3</a:t>
            </a:r>
            <a:endParaRPr lang="en-US" sz="1150" dirty="0"/>
          </a:p>
          <a:p>
            <a:pPr algn="l" indent="0" marL="0">
              <a:lnSpc>
                <a:spcPct val="118000"/>
              </a:lnSpc>
              <a:buNone/>
            </a:pPr>
            <a:r>
              <a:rPr lang="en-US" sz="1150" b="1" dirty="0">
                <a:solidFill>
                  <a:srgbClr val="FFD166"/>
                </a:solidFill>
                <a:latin typeface="Consolas" pitchFamily="34" charset="0"/>
                <a:ea typeface="Consolas" pitchFamily="34" charset="-122"/>
                <a:cs typeface="Consolas" pitchFamily="34" charset="-120"/>
              </a:rPr>
              <a:t>   96234 / 41877       # the two dumps, by size</a:t>
            </a:r>
            <a:endParaRPr lang="en-US" sz="1150" dirty="0"/>
          </a:p>
        </p:txBody>
      </p:sp>
      <p:sp>
        <p:nvSpPr>
          <p:cNvPr id="10" name="Text 8"/>
          <p:cNvSpPr/>
          <p:nvPr/>
        </p:nvSpPr>
        <p:spPr>
          <a:xfrm>
            <a:off x="7863840" y="1920240"/>
            <a:ext cx="3749040" cy="365760"/>
          </a:xfrm>
          <a:prstGeom prst="rect">
            <a:avLst/>
          </a:prstGeom>
          <a:noFill/>
          <a:ln/>
        </p:spPr>
        <p:txBody>
          <a:bodyPr wrap="square" lIns="0" tIns="0" rIns="0" bIns="0" rtlCol="0" anchor="ctr"/>
          <a:lstStyle/>
          <a:p>
            <a:pPr indent="0" marL="0">
              <a:buNone/>
            </a:pPr>
            <a:r>
              <a:rPr lang="en-US" sz="1600" b="1" dirty="0">
                <a:solidFill>
                  <a:srgbClr val="134B56"/>
                </a:solidFill>
                <a:latin typeface="Segoe UI" pitchFamily="34" charset="0"/>
                <a:ea typeface="Segoe UI" pitchFamily="34" charset="-122"/>
                <a:cs typeface="Segoe UI" pitchFamily="34" charset="-120"/>
              </a:rPr>
              <a:t>Why these five</a:t>
            </a:r>
            <a:endParaRPr lang="en-US" sz="1600" dirty="0"/>
          </a:p>
        </p:txBody>
      </p:sp>
      <p:sp>
        <p:nvSpPr>
          <p:cNvPr id="11" name="Text 9"/>
          <p:cNvSpPr/>
          <p:nvPr/>
        </p:nvSpPr>
        <p:spPr>
          <a:xfrm>
            <a:off x="7863840" y="2359152"/>
            <a:ext cx="3749040" cy="3840480"/>
          </a:xfrm>
          <a:prstGeom prst="rect">
            <a:avLst/>
          </a:prstGeom>
          <a:noFill/>
          <a:ln/>
        </p:spPr>
        <p:txBody>
          <a:bodyPr wrap="square" lIns="0" tIns="0" rIns="0" bIns="0" rtlCol="0" anchor="t"/>
          <a:lstStyle/>
          <a:p>
            <a:pPr algn="l" marL="152400" indent="-152400">
              <a:lnSpc>
                <a:spcPct val="112000"/>
              </a:lnSpc>
              <a:spcAft>
                <a:spcPts val="800"/>
              </a:spcAft>
              <a:buSzPct val="100000"/>
              <a:buChar char="▸"/>
            </a:pPr>
            <a:r>
              <a:rPr lang="en-US" sz="1300" dirty="0">
                <a:solidFill>
                  <a:srgbClr val="16232B"/>
                </a:solidFill>
                <a:latin typeface="Segoe UI" pitchFamily="34" charset="0"/>
                <a:ea typeface="Segoe UI" pitchFamily="34" charset="-122"/>
                <a:cs typeface="Segoe UI" pitchFamily="34" charset="-120"/>
              </a:rPr>
              <a:t>IP ranking: who is disproportionate</a:t>
            </a:r>
            <a:endParaRPr lang="en-US" sz="1300" dirty="0"/>
          </a:p>
          <a:p>
            <a:pPr algn="l" marL="152400" indent="-152400">
              <a:lnSpc>
                <a:spcPct val="112000"/>
              </a:lnSpc>
              <a:spcAft>
                <a:spcPts val="800"/>
              </a:spcAft>
              <a:buSzPct val="100000"/>
              <a:buChar char="▸"/>
            </a:pPr>
            <a:r>
              <a:rPr lang="en-US" sz="1300" dirty="0">
                <a:solidFill>
                  <a:srgbClr val="16232B"/>
                </a:solidFill>
                <a:latin typeface="Segoe UI" pitchFamily="34" charset="0"/>
                <a:ea typeface="Segoe UI" pitchFamily="34" charset="-122"/>
                <a:cs typeface="Segoe UI" pitchFamily="34" charset="-120"/>
              </a:rPr>
              <a:t>status mix: 404 bursts = content discovery</a:t>
            </a:r>
            <a:endParaRPr lang="en-US" sz="1300" dirty="0"/>
          </a:p>
          <a:p>
            <a:pPr algn="l" marL="152400" indent="-152400">
              <a:lnSpc>
                <a:spcPct val="112000"/>
              </a:lnSpc>
              <a:spcAft>
                <a:spcPts val="800"/>
              </a:spcAft>
              <a:buSzPct val="100000"/>
              <a:buChar char="▸"/>
            </a:pPr>
            <a:r>
              <a:rPr lang="en-US" sz="1300" dirty="0">
                <a:solidFill>
                  <a:srgbClr val="16232B"/>
                </a:solidFill>
                <a:latin typeface="Segoe UI" pitchFamily="34" charset="0"/>
                <a:ea typeface="Segoe UI" pitchFamily="34" charset="-122"/>
                <a:cs typeface="Segoe UI" pitchFamily="34" charset="-120"/>
              </a:rPr>
              <a:t>UA ranking: tools announce themselves</a:t>
            </a:r>
            <a:endParaRPr lang="en-US" sz="1300" dirty="0"/>
          </a:p>
          <a:p>
            <a:pPr algn="l" marL="152400" indent="-152400">
              <a:lnSpc>
                <a:spcPct val="112000"/>
              </a:lnSpc>
              <a:spcAft>
                <a:spcPts val="800"/>
              </a:spcAft>
              <a:buSzPct val="100000"/>
              <a:buChar char="▸"/>
            </a:pPr>
            <a:r>
              <a:rPr lang="en-US" sz="1300" dirty="0">
                <a:solidFill>
                  <a:srgbClr val="16232B"/>
                </a:solidFill>
                <a:latin typeface="Segoe UI" pitchFamily="34" charset="0"/>
                <a:ea typeface="Segoe UI" pitchFamily="34" charset="-122"/>
                <a:cs typeface="Segoe UI" pitchFamily="34" charset="-120"/>
              </a:rPr>
              <a:t>size ranking: the biggest answers are exfiltration</a:t>
            </a:r>
            <a:endParaRPr lang="en-US" sz="1300" dirty="0"/>
          </a:p>
          <a:p>
            <a:pPr algn="l" marL="152400" indent="-152400">
              <a:lnSpc>
                <a:spcPct val="112000"/>
              </a:lnSpc>
              <a:spcAft>
                <a:spcPts val="800"/>
              </a:spcAft>
              <a:buSzPct val="100000"/>
              <a:buChar char="▸"/>
            </a:pPr>
            <a:r>
              <a:rPr lang="en-US" sz="1300" dirty="0">
                <a:solidFill>
                  <a:srgbClr val="16232B"/>
                </a:solidFill>
                <a:latin typeface="Segoe UI" pitchFamily="34" charset="0"/>
                <a:ea typeface="Segoe UI" pitchFamily="34" charset="-122"/>
                <a:cs typeface="Segoe UI" pitchFamily="34" charset="-120"/>
              </a:rPr>
              <a:t>cut/awk field numbers refer to the line layout</a:t>
            </a:r>
            <a:endParaRPr lang="en-US" sz="1300" dirty="0"/>
          </a:p>
        </p:txBody>
      </p:sp>
      <p:sp>
        <p:nvSpPr>
          <p:cNvPr id="25" name="Slide Number Placeholder 0"/>
          <p:cNvSpPr>
            <a:spLocks noGrp="1"/>
          </p:cNvSpPr>
          <p:nvPr>
            <p:ph type="sldNum" sz="quarter" idx="4294967295"/>
          </p:nvPr>
        </p:nvSpPr>
        <p:spPr>
          <a:xfrm>
            <a:off x="1147572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078"/>
                </a:solidFill>
                <a:latin typeface="Segoe UI"/>
                <a:ea typeface="Segoe UI"/>
                <a:cs typeface="Segoe U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lIns="0" tIns="0" rIns="0" bIns="0" rtlCol="0" anchor="ctr"/>
          <a:lstStyle/>
          <a:p>
            <a:pPr indent="0" marL="0">
              <a:buNone/>
            </a:pPr>
            <a:r>
              <a:rPr lang="en-US" sz="1200" b="1" spc="300" kern="0" dirty="0">
                <a:solidFill>
                  <a:srgbClr val="1B6B7A"/>
                </a:solidFill>
                <a:latin typeface="Segoe UI" pitchFamily="34" charset="0"/>
                <a:ea typeface="Segoe UI" pitchFamily="34" charset="-122"/>
                <a:cs typeface="Segoe UI" pitchFamily="34" charset="-120"/>
              </a:rPr>
              <a:t>TRIAGE · 2 OF 2</a:t>
            </a:r>
            <a:endParaRPr lang="en-US" sz="1200" dirty="0"/>
          </a:p>
        </p:txBody>
      </p:sp>
      <p:sp>
        <p:nvSpPr>
          <p:cNvPr id="3" name="Text 1"/>
          <p:cNvSpPr/>
          <p:nvPr/>
        </p:nvSpPr>
        <p:spPr>
          <a:xfrm>
            <a:off x="548640" y="658368"/>
            <a:ext cx="11091672" cy="777240"/>
          </a:xfrm>
          <a:prstGeom prst="rect">
            <a:avLst/>
          </a:prstGeom>
          <a:noFill/>
          <a:ln/>
        </p:spPr>
        <p:txBody>
          <a:bodyPr wrap="square" lIns="0" tIns="0" rIns="0" bIns="0" rtlCol="0" anchor="ctr"/>
          <a:lstStyle/>
          <a:p>
            <a:pPr indent="0" marL="0">
              <a:buNone/>
            </a:pPr>
            <a:r>
              <a:rPr lang="en-US" sz="3200" b="1" dirty="0">
                <a:solidFill>
                  <a:srgbClr val="16232B"/>
                </a:solidFill>
                <a:latin typeface="Segoe UI" pitchFamily="34" charset="0"/>
                <a:ea typeface="Segoe UI" pitchFamily="34" charset="-122"/>
                <a:cs typeface="Segoe UI" pitchFamily="34" charset="-120"/>
              </a:rPr>
              <a:t>Correlating audit transactions to access lines</a:t>
            </a:r>
            <a:endParaRPr lang="en-US" sz="3200" dirty="0"/>
          </a:p>
        </p:txBody>
      </p:sp>
      <p:sp>
        <p:nvSpPr>
          <p:cNvPr id="4" name="Shape 2"/>
          <p:cNvSpPr/>
          <p:nvPr/>
        </p:nvSpPr>
        <p:spPr>
          <a:xfrm>
            <a:off x="548640" y="1783080"/>
            <a:ext cx="6949440" cy="4480560"/>
          </a:xfrm>
          <a:prstGeom prst="roundRect">
            <a:avLst>
              <a:gd name="adj" fmla="val 1837"/>
            </a:avLst>
          </a:prstGeom>
          <a:solidFill>
            <a:srgbClr val="0B1B26"/>
          </a:solidFill>
          <a:ln w="12700">
            <a:solidFill>
              <a:srgbClr val="1E3646"/>
            </a:solidFill>
            <a:prstDash val="solid"/>
          </a:ln>
          <a:effectLst>
            <a:outerShdw sx="100000" sy="100000" kx="0" ky="0" algn="bl" rotWithShape="0" blurRad="88900" dist="25400" dir="2700000">
              <a:srgbClr val="0F2233">
                <a:alpha val="18000"/>
              </a:srgbClr>
            </a:outerShdw>
          </a:effectLst>
        </p:spPr>
      </p:sp>
      <p:sp>
        <p:nvSpPr>
          <p:cNvPr id="5" name="Shape 3"/>
          <p:cNvSpPr/>
          <p:nvPr/>
        </p:nvSpPr>
        <p:spPr>
          <a:xfrm>
            <a:off x="731520" y="1929384"/>
            <a:ext cx="100584" cy="100584"/>
          </a:xfrm>
          <a:prstGeom prst="ellipse">
            <a:avLst/>
          </a:prstGeom>
          <a:solidFill>
            <a:srgbClr val="E8686A"/>
          </a:solidFill>
          <a:ln/>
        </p:spPr>
      </p:sp>
      <p:sp>
        <p:nvSpPr>
          <p:cNvPr id="6" name="Shape 4"/>
          <p:cNvSpPr/>
          <p:nvPr/>
        </p:nvSpPr>
        <p:spPr>
          <a:xfrm>
            <a:off x="950976" y="1929384"/>
            <a:ext cx="100584" cy="100584"/>
          </a:xfrm>
          <a:prstGeom prst="ellipse">
            <a:avLst/>
          </a:prstGeom>
          <a:solidFill>
            <a:srgbClr val="E9C46A"/>
          </a:solidFill>
          <a:ln/>
        </p:spPr>
      </p:sp>
      <p:sp>
        <p:nvSpPr>
          <p:cNvPr id="7" name="Shape 5"/>
          <p:cNvSpPr/>
          <p:nvPr/>
        </p:nvSpPr>
        <p:spPr>
          <a:xfrm>
            <a:off x="1170432" y="1929384"/>
            <a:ext cx="100584" cy="100584"/>
          </a:xfrm>
          <a:prstGeom prst="ellipse">
            <a:avLst/>
          </a:prstGeom>
          <a:solidFill>
            <a:srgbClr val="57B894"/>
          </a:solidFill>
          <a:ln/>
        </p:spPr>
      </p:sp>
      <p:sp>
        <p:nvSpPr>
          <p:cNvPr id="8" name="Text 6"/>
          <p:cNvSpPr/>
          <p:nvPr/>
        </p:nvSpPr>
        <p:spPr>
          <a:xfrm>
            <a:off x="1463040" y="1874520"/>
            <a:ext cx="5852160" cy="237744"/>
          </a:xfrm>
          <a:prstGeom prst="rect">
            <a:avLst/>
          </a:prstGeom>
          <a:noFill/>
          <a:ln/>
        </p:spPr>
        <p:txBody>
          <a:bodyPr wrap="square" lIns="0" tIns="0" rIns="0" bIns="0" rtlCol="0" anchor="ctr"/>
          <a:lstStyle/>
          <a:p>
            <a:pPr algn="r" indent="0" marL="0">
              <a:buNone/>
            </a:pPr>
            <a:r>
              <a:rPr lang="en-US" sz="1000" dirty="0">
                <a:solidFill>
                  <a:srgbClr val="6C8A96"/>
                </a:solidFill>
                <a:latin typeface="Consolas" pitchFamily="34" charset="0"/>
                <a:ea typeface="Consolas" pitchFamily="34" charset="-122"/>
                <a:cs typeface="Consolas" pitchFamily="34" charset="-120"/>
              </a:rPr>
              <a:t>root@dfir:/var/log/apache2#</a:t>
            </a:r>
            <a:endParaRPr lang="en-US" sz="1000" dirty="0"/>
          </a:p>
        </p:txBody>
      </p:sp>
      <p:sp>
        <p:nvSpPr>
          <p:cNvPr id="9" name="Text 7"/>
          <p:cNvSpPr/>
          <p:nvPr/>
        </p:nvSpPr>
        <p:spPr>
          <a:xfrm>
            <a:off x="804672" y="2167128"/>
            <a:ext cx="6446520" cy="3931920"/>
          </a:xfrm>
          <a:prstGeom prst="rect">
            <a:avLst/>
          </a:prstGeom>
          <a:noFill/>
          <a:ln/>
        </p:spPr>
        <p:txBody>
          <a:bodyPr wrap="square" lIns="0" tIns="0" rIns="0" bIns="0" rtlCol="0" anchor="t"/>
          <a:lstStyle/>
          <a:p>
            <a:pPr algn="l" indent="0" marL="0">
              <a:lnSpc>
                <a:spcPct val="118000"/>
              </a:lnSpc>
              <a:buNone/>
            </a:pPr>
            <a:r>
              <a:rPr lang="en-US" sz="1150" dirty="0">
                <a:solidFill>
                  <a:srgbClr val="6C8A96"/>
                </a:solidFill>
                <a:latin typeface="Consolas" pitchFamily="34" charset="0"/>
                <a:ea typeface="Consolas" pitchFamily="34" charset="-122"/>
                <a:cs typeface="Consolas" pitchFamily="34" charset="-120"/>
              </a:rPr>
              <a:t># find the transaction near a suspicious time:</a:t>
            </a:r>
            <a:endParaRPr lang="en-US" sz="1150" dirty="0"/>
          </a:p>
          <a:p>
            <a:pPr algn="l" indent="0" marL="0">
              <a:lnSpc>
                <a:spcPct val="118000"/>
              </a:lnSpc>
              <a:buNone/>
            </a:pPr>
            <a:r>
              <a:rPr lang="en-US" sz="1150" dirty="0">
                <a:solidFill>
                  <a:srgbClr val="37DCF2"/>
                </a:solidFill>
                <a:latin typeface="Consolas" pitchFamily="34" charset="0"/>
                <a:ea typeface="Consolas" pitchFamily="34" charset="-122"/>
                <a:cs typeface="Consolas" pitchFamily="34" charset="-120"/>
              </a:rPr>
              <a:t>$ grep -n "01:37:49" modsec_audit.log | head</a:t>
            </a:r>
            <a:endParaRPr lang="en-US" sz="1150" dirty="0"/>
          </a:p>
          <a:p>
            <a:pPr algn="l" indent="0" marL="0">
              <a:lnSpc>
                <a:spcPct val="118000"/>
              </a:lnSpc>
              <a:buNone/>
            </a:pPr>
            <a:r>
              <a:rPr lang="en-US" sz="1150" b="1" dirty="0">
                <a:solidFill>
                  <a:srgbClr val="FFD166"/>
                </a:solidFill>
                <a:latin typeface="Consolas" pitchFamily="34" charset="0"/>
                <a:ea typeface="Consolas" pitchFamily="34" charset="-122"/>
                <a:cs typeface="Consolas" pitchFamily="34" charset="-120"/>
              </a:rPr>
              <a:t>[16/Feb/2023:01:37:49.214415 +0500] Y-1C...</a:t>
            </a:r>
            <a:endParaRPr lang="en-US" sz="1150" dirty="0"/>
          </a:p>
          <a:p>
            <a:pPr algn="l" indent="0" marL="0">
              <a:lnSpc>
                <a:spcPct val="118000"/>
              </a:lnSpc>
              <a:buNone/>
            </a:pPr>
            <a:endParaRPr lang="en-US" sz="1150" dirty="0"/>
          </a:p>
          <a:p>
            <a:pPr algn="l" indent="0" marL="0">
              <a:lnSpc>
                <a:spcPct val="118000"/>
              </a:lnSpc>
              <a:buNone/>
            </a:pPr>
            <a:r>
              <a:rPr lang="en-US" sz="1150" dirty="0">
                <a:solidFill>
                  <a:srgbClr val="6C8A96"/>
                </a:solidFill>
                <a:latin typeface="Consolas" pitchFamily="34" charset="0"/>
                <a:ea typeface="Consolas" pitchFamily="34" charset="-122"/>
                <a:cs typeface="Consolas" pitchFamily="34" charset="-120"/>
              </a:rPr>
              <a:t># the transaction id ties every section together:</a:t>
            </a:r>
            <a:endParaRPr lang="en-US" sz="1150" dirty="0"/>
          </a:p>
          <a:p>
            <a:pPr algn="l" indent="0" marL="0">
              <a:lnSpc>
                <a:spcPct val="118000"/>
              </a:lnSpc>
              <a:buNone/>
            </a:pPr>
            <a:r>
              <a:rPr lang="en-US" sz="1150" dirty="0">
                <a:solidFill>
                  <a:srgbClr val="BFE3DC"/>
                </a:solidFill>
                <a:latin typeface="Consolas" pitchFamily="34" charset="0"/>
                <a:ea typeface="Consolas" pitchFamily="34" charset="-122"/>
                <a:cs typeface="Consolas" pitchFamily="34" charset="-120"/>
              </a:rPr>
              <a:t>--0f83dc52-A--  ...  --0f83dc52-Z--</a:t>
            </a:r>
            <a:endParaRPr lang="en-US" sz="1150" dirty="0"/>
          </a:p>
          <a:p>
            <a:pPr algn="l" indent="0" marL="0">
              <a:lnSpc>
                <a:spcPct val="118000"/>
              </a:lnSpc>
              <a:buNone/>
            </a:pPr>
            <a:endParaRPr lang="en-US" sz="1150" dirty="0"/>
          </a:p>
          <a:p>
            <a:pPr algn="l" indent="0" marL="0">
              <a:lnSpc>
                <a:spcPct val="118000"/>
              </a:lnSpc>
              <a:buNone/>
            </a:pPr>
            <a:r>
              <a:rPr lang="en-US" sz="1150" dirty="0">
                <a:solidFill>
                  <a:srgbClr val="6C8A96"/>
                </a:solidFill>
                <a:latin typeface="Consolas" pitchFamily="34" charset="0"/>
                <a:ea typeface="Consolas" pitchFamily="34" charset="-122"/>
                <a:cs typeface="Consolas" pitchFamily="34" charset="-120"/>
              </a:rPr>
              <a:t># pull one transaction cleanly:</a:t>
            </a:r>
            <a:endParaRPr lang="en-US" sz="1150" dirty="0"/>
          </a:p>
          <a:p>
            <a:pPr algn="l" indent="0" marL="0">
              <a:lnSpc>
                <a:spcPct val="118000"/>
              </a:lnSpc>
              <a:buNone/>
            </a:pPr>
            <a:r>
              <a:rPr lang="en-US" sz="1150" dirty="0">
                <a:solidFill>
                  <a:srgbClr val="37DCF2"/>
                </a:solidFill>
                <a:latin typeface="Consolas" pitchFamily="34" charset="0"/>
                <a:ea typeface="Consolas" pitchFamily="34" charset="-122"/>
                <a:cs typeface="Consolas" pitchFamily="34" charset="-120"/>
              </a:rPr>
              <a:t>$ sed -n '/--0f83dc52-A--/,/--0f83dc52-Z--/p' modsec_audit.log</a:t>
            </a:r>
            <a:endParaRPr lang="en-US" sz="1150" dirty="0"/>
          </a:p>
        </p:txBody>
      </p:sp>
      <p:sp>
        <p:nvSpPr>
          <p:cNvPr id="10" name="Text 8"/>
          <p:cNvSpPr/>
          <p:nvPr/>
        </p:nvSpPr>
        <p:spPr>
          <a:xfrm>
            <a:off x="7863840" y="1920240"/>
            <a:ext cx="3749040" cy="365760"/>
          </a:xfrm>
          <a:prstGeom prst="rect">
            <a:avLst/>
          </a:prstGeom>
          <a:noFill/>
          <a:ln/>
        </p:spPr>
        <p:txBody>
          <a:bodyPr wrap="square" lIns="0" tIns="0" rIns="0" bIns="0" rtlCol="0" anchor="ctr"/>
          <a:lstStyle/>
          <a:p>
            <a:pPr indent="0" marL="0">
              <a:buNone/>
            </a:pPr>
            <a:r>
              <a:rPr lang="en-US" sz="1600" b="1" dirty="0">
                <a:solidFill>
                  <a:srgbClr val="134B56"/>
                </a:solidFill>
                <a:latin typeface="Segoe UI" pitchFamily="34" charset="0"/>
                <a:ea typeface="Segoe UI" pitchFamily="34" charset="-122"/>
                <a:cs typeface="Segoe UI" pitchFamily="34" charset="-120"/>
              </a:rPr>
              <a:t>Correlation keys</a:t>
            </a:r>
            <a:endParaRPr lang="en-US" sz="1600" dirty="0"/>
          </a:p>
        </p:txBody>
      </p:sp>
      <p:sp>
        <p:nvSpPr>
          <p:cNvPr id="11" name="Text 9"/>
          <p:cNvSpPr/>
          <p:nvPr/>
        </p:nvSpPr>
        <p:spPr>
          <a:xfrm>
            <a:off x="7863840" y="2359152"/>
            <a:ext cx="3749040" cy="3840480"/>
          </a:xfrm>
          <a:prstGeom prst="rect">
            <a:avLst/>
          </a:prstGeom>
          <a:noFill/>
          <a:ln/>
        </p:spPr>
        <p:txBody>
          <a:bodyPr wrap="square" lIns="0" tIns="0" rIns="0" bIns="0" rtlCol="0" anchor="t"/>
          <a:lstStyle/>
          <a:p>
            <a:pPr algn="l" marL="152400" indent="-152400">
              <a:lnSpc>
                <a:spcPct val="112000"/>
              </a:lnSpc>
              <a:spcAft>
                <a:spcPts val="800"/>
              </a:spcAft>
              <a:buSzPct val="100000"/>
              <a:buChar char="▸"/>
            </a:pPr>
            <a:r>
              <a:rPr lang="en-US" sz="1300" dirty="0">
                <a:solidFill>
                  <a:srgbClr val="16232B"/>
                </a:solidFill>
                <a:latin typeface="Segoe UI" pitchFamily="34" charset="0"/>
                <a:ea typeface="Segoe UI" pitchFamily="34" charset="-122"/>
                <a:cs typeface="Segoe UI" pitchFamily="34" charset="-120"/>
              </a:rPr>
              <a:t>timestamp (audit has microseconds)</a:t>
            </a:r>
            <a:endParaRPr lang="en-US" sz="1300" dirty="0"/>
          </a:p>
          <a:p>
            <a:pPr algn="l" marL="152400" indent="-152400">
              <a:lnSpc>
                <a:spcPct val="112000"/>
              </a:lnSpc>
              <a:spcAft>
                <a:spcPts val="800"/>
              </a:spcAft>
              <a:buSzPct val="100000"/>
              <a:buChar char="▸"/>
            </a:pPr>
            <a:r>
              <a:rPr lang="en-US" sz="1300" dirty="0">
                <a:solidFill>
                  <a:srgbClr val="16232B"/>
                </a:solidFill>
                <a:latin typeface="Segoe UI" pitchFamily="34" charset="0"/>
                <a:ea typeface="Segoe UI" pitchFamily="34" charset="-122"/>
                <a:cs typeface="Segoe UI" pitchFamily="34" charset="-120"/>
              </a:rPr>
              <a:t>transaction id + unique_id in H</a:t>
            </a:r>
            <a:endParaRPr lang="en-US" sz="1300" dirty="0"/>
          </a:p>
          <a:p>
            <a:pPr algn="l" marL="152400" indent="-152400">
              <a:lnSpc>
                <a:spcPct val="112000"/>
              </a:lnSpc>
              <a:spcAft>
                <a:spcPts val="800"/>
              </a:spcAft>
              <a:buSzPct val="100000"/>
              <a:buChar char="▸"/>
            </a:pPr>
            <a:r>
              <a:rPr lang="en-US" sz="1300" dirty="0">
                <a:solidFill>
                  <a:srgbClr val="16232B"/>
                </a:solidFill>
                <a:latin typeface="Segoe UI" pitchFamily="34" charset="0"/>
                <a:ea typeface="Segoe UI" pitchFamily="34" charset="-122"/>
                <a:cs typeface="Segoe UI" pitchFamily="34" charset="-120"/>
              </a:rPr>
              <a:t>client port in A matches nothing in access.log - use time</a:t>
            </a:r>
            <a:endParaRPr lang="en-US" sz="1300" dirty="0"/>
          </a:p>
          <a:p>
            <a:pPr algn="l" marL="152400" indent="-152400">
              <a:lnSpc>
                <a:spcPct val="112000"/>
              </a:lnSpc>
              <a:spcAft>
                <a:spcPts val="800"/>
              </a:spcAft>
              <a:buSzPct val="100000"/>
              <a:buChar char="▸"/>
            </a:pPr>
            <a:r>
              <a:rPr lang="en-US" sz="1300" dirty="0">
                <a:solidFill>
                  <a:srgbClr val="16232B"/>
                </a:solidFill>
                <a:latin typeface="Segoe UI" pitchFamily="34" charset="0"/>
                <a:ea typeface="Segoe UI" pitchFamily="34" charset="-122"/>
                <a:cs typeface="Segoe UI" pitchFamily="34" charset="-120"/>
              </a:rPr>
              <a:t>Stopwatch micro-time orders events inside one second</a:t>
            </a:r>
            <a:endParaRPr lang="en-US" sz="1300" dirty="0"/>
          </a:p>
        </p:txBody>
      </p:sp>
      <p:sp>
        <p:nvSpPr>
          <p:cNvPr id="25" name="Slide Number Placeholder 0"/>
          <p:cNvSpPr>
            <a:spLocks noGrp="1"/>
          </p:cNvSpPr>
          <p:nvPr>
            <p:ph type="sldNum" sz="quarter" idx="4294967295"/>
          </p:nvPr>
        </p:nvSpPr>
        <p:spPr>
          <a:xfrm>
            <a:off x="1147572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078"/>
                </a:solidFill>
                <a:latin typeface="Segoe UI"/>
                <a:ea typeface="Segoe UI"/>
                <a:cs typeface="Segoe U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lIns="0" tIns="0" rIns="0" bIns="0" rtlCol="0" anchor="ctr"/>
          <a:lstStyle/>
          <a:p>
            <a:pPr indent="0" marL="0">
              <a:buNone/>
            </a:pPr>
            <a:r>
              <a:rPr lang="en-US" sz="1200" b="1" spc="300" kern="0" dirty="0">
                <a:solidFill>
                  <a:srgbClr val="1B6B7A"/>
                </a:solidFill>
                <a:latin typeface="Segoe UI" pitchFamily="34" charset="0"/>
                <a:ea typeface="Segoe UI" pitchFamily="34" charset="-122"/>
                <a:cs typeface="Segoe UI" pitchFamily="34" charset="-120"/>
              </a:rPr>
              <a:t>WAF DEPTH</a:t>
            </a:r>
            <a:endParaRPr lang="en-US" sz="1200" dirty="0"/>
          </a:p>
        </p:txBody>
      </p:sp>
      <p:sp>
        <p:nvSpPr>
          <p:cNvPr id="3" name="Text 1"/>
          <p:cNvSpPr/>
          <p:nvPr/>
        </p:nvSpPr>
        <p:spPr>
          <a:xfrm>
            <a:off x="548640" y="658368"/>
            <a:ext cx="11091672" cy="777240"/>
          </a:xfrm>
          <a:prstGeom prst="rect">
            <a:avLst/>
          </a:prstGeom>
          <a:noFill/>
          <a:ln/>
        </p:spPr>
        <p:txBody>
          <a:bodyPr wrap="square" lIns="0" tIns="0" rIns="0" bIns="0" rtlCol="0" anchor="ctr"/>
          <a:lstStyle/>
          <a:p>
            <a:pPr indent="0" marL="0">
              <a:buNone/>
            </a:pPr>
            <a:r>
              <a:rPr lang="en-US" sz="3200" b="1" dirty="0">
                <a:solidFill>
                  <a:srgbClr val="16232B"/>
                </a:solidFill>
                <a:latin typeface="Segoe UI" pitchFamily="34" charset="0"/>
                <a:ea typeface="Segoe UI" pitchFamily="34" charset="-122"/>
                <a:cs typeface="Segoe UI" pitchFamily="34" charset="-120"/>
              </a:rPr>
              <a:t>Anomaly scoring — the 980130 verdict</a:t>
            </a:r>
            <a:endParaRPr lang="en-US" sz="3200" dirty="0"/>
          </a:p>
        </p:txBody>
      </p:sp>
      <p:sp>
        <p:nvSpPr>
          <p:cNvPr id="4" name="Shape 2"/>
          <p:cNvSpPr/>
          <p:nvPr/>
        </p:nvSpPr>
        <p:spPr>
          <a:xfrm>
            <a:off x="548640" y="1783080"/>
            <a:ext cx="6949440" cy="4480560"/>
          </a:xfrm>
          <a:prstGeom prst="roundRect">
            <a:avLst>
              <a:gd name="adj" fmla="val 1837"/>
            </a:avLst>
          </a:prstGeom>
          <a:solidFill>
            <a:srgbClr val="0B1B26"/>
          </a:solidFill>
          <a:ln w="12700">
            <a:solidFill>
              <a:srgbClr val="1E3646"/>
            </a:solidFill>
            <a:prstDash val="solid"/>
          </a:ln>
          <a:effectLst>
            <a:outerShdw sx="100000" sy="100000" kx="0" ky="0" algn="bl" rotWithShape="0" blurRad="88900" dist="25400" dir="2700000">
              <a:srgbClr val="0F2233">
                <a:alpha val="18000"/>
              </a:srgbClr>
            </a:outerShdw>
          </a:effectLst>
        </p:spPr>
      </p:sp>
      <p:sp>
        <p:nvSpPr>
          <p:cNvPr id="5" name="Shape 3"/>
          <p:cNvSpPr/>
          <p:nvPr/>
        </p:nvSpPr>
        <p:spPr>
          <a:xfrm>
            <a:off x="731520" y="1929384"/>
            <a:ext cx="100584" cy="100584"/>
          </a:xfrm>
          <a:prstGeom prst="ellipse">
            <a:avLst/>
          </a:prstGeom>
          <a:solidFill>
            <a:srgbClr val="E8686A"/>
          </a:solidFill>
          <a:ln/>
        </p:spPr>
      </p:sp>
      <p:sp>
        <p:nvSpPr>
          <p:cNvPr id="6" name="Shape 4"/>
          <p:cNvSpPr/>
          <p:nvPr/>
        </p:nvSpPr>
        <p:spPr>
          <a:xfrm>
            <a:off x="950976" y="1929384"/>
            <a:ext cx="100584" cy="100584"/>
          </a:xfrm>
          <a:prstGeom prst="ellipse">
            <a:avLst/>
          </a:prstGeom>
          <a:solidFill>
            <a:srgbClr val="E9C46A"/>
          </a:solidFill>
          <a:ln/>
        </p:spPr>
      </p:sp>
      <p:sp>
        <p:nvSpPr>
          <p:cNvPr id="7" name="Shape 5"/>
          <p:cNvSpPr/>
          <p:nvPr/>
        </p:nvSpPr>
        <p:spPr>
          <a:xfrm>
            <a:off x="1170432" y="1929384"/>
            <a:ext cx="100584" cy="100584"/>
          </a:xfrm>
          <a:prstGeom prst="ellipse">
            <a:avLst/>
          </a:prstGeom>
          <a:solidFill>
            <a:srgbClr val="57B894"/>
          </a:solidFill>
          <a:ln/>
        </p:spPr>
      </p:sp>
      <p:sp>
        <p:nvSpPr>
          <p:cNvPr id="8" name="Text 6"/>
          <p:cNvSpPr/>
          <p:nvPr/>
        </p:nvSpPr>
        <p:spPr>
          <a:xfrm>
            <a:off x="1463040" y="1874520"/>
            <a:ext cx="5852160" cy="237744"/>
          </a:xfrm>
          <a:prstGeom prst="rect">
            <a:avLst/>
          </a:prstGeom>
          <a:noFill/>
          <a:ln/>
        </p:spPr>
        <p:txBody>
          <a:bodyPr wrap="square" lIns="0" tIns="0" rIns="0" bIns="0" rtlCol="0" anchor="ctr"/>
          <a:lstStyle/>
          <a:p>
            <a:pPr algn="r" indent="0" marL="0">
              <a:buNone/>
            </a:pPr>
            <a:r>
              <a:rPr lang="en-US" sz="1000" dirty="0">
                <a:solidFill>
                  <a:srgbClr val="6C8A96"/>
                </a:solidFill>
                <a:latin typeface="Consolas" pitchFamily="34" charset="0"/>
                <a:ea typeface="Consolas" pitchFamily="34" charset="-122"/>
                <a:cs typeface="Consolas" pitchFamily="34" charset="-120"/>
              </a:rPr>
              <a:t>root@dfir:/var/log/apache2#</a:t>
            </a:r>
            <a:endParaRPr lang="en-US" sz="1000" dirty="0"/>
          </a:p>
        </p:txBody>
      </p:sp>
      <p:sp>
        <p:nvSpPr>
          <p:cNvPr id="9" name="Text 7"/>
          <p:cNvSpPr/>
          <p:nvPr/>
        </p:nvSpPr>
        <p:spPr>
          <a:xfrm>
            <a:off x="804672" y="2167128"/>
            <a:ext cx="6446520" cy="3931920"/>
          </a:xfrm>
          <a:prstGeom prst="rect">
            <a:avLst/>
          </a:prstGeom>
          <a:noFill/>
          <a:ln/>
        </p:spPr>
        <p:txBody>
          <a:bodyPr wrap="square" lIns="0" tIns="0" rIns="0" bIns="0" rtlCol="0" anchor="t"/>
          <a:lstStyle/>
          <a:p>
            <a:pPr algn="l" indent="0" marL="0">
              <a:lnSpc>
                <a:spcPct val="118000"/>
              </a:lnSpc>
              <a:buNone/>
            </a:pPr>
            <a:r>
              <a:rPr lang="en-US" sz="1200" dirty="0">
                <a:solidFill>
                  <a:srgbClr val="BFE3DC"/>
                </a:solidFill>
                <a:latin typeface="Consolas" pitchFamily="34" charset="0"/>
                <a:ea typeface="Consolas" pitchFamily="34" charset="-122"/>
                <a:cs typeface="Consolas" pitchFamily="34" charset="-120"/>
              </a:rPr>
              <a:t>Message: ... [id "980130"] [msg "Inbound Anomaly</a:t>
            </a:r>
            <a:endParaRPr lang="en-US" sz="1200" dirty="0"/>
          </a:p>
          <a:p>
            <a:pPr algn="l" indent="0" marL="0">
              <a:lnSpc>
                <a:spcPct val="118000"/>
              </a:lnSpc>
              <a:buNone/>
            </a:pPr>
            <a:r>
              <a:rPr lang="en-US" sz="1200" dirty="0">
                <a:solidFill>
                  <a:srgbClr val="BFE3DC"/>
                </a:solidFill>
                <a:latin typeface="Consolas" pitchFamily="34" charset="0"/>
                <a:ea typeface="Consolas" pitchFamily="34" charset="-122"/>
                <a:cs typeface="Consolas" pitchFamily="34" charset="-120"/>
              </a:rPr>
              <a:t>  Score Exceeded (Total Inbound Score: 43 -</a:t>
            </a:r>
            <a:endParaRPr lang="en-US" sz="1200" dirty="0"/>
          </a:p>
          <a:p>
            <a:pPr algn="l" indent="0" marL="0">
              <a:lnSpc>
                <a:spcPct val="118000"/>
              </a:lnSpc>
              <a:buNone/>
            </a:pPr>
            <a:r>
              <a:rPr lang="en-US" sz="1200" b="1" dirty="0">
                <a:solidFill>
                  <a:srgbClr val="FFD166"/>
                </a:solidFill>
                <a:latin typeface="Consolas" pitchFamily="34" charset="0"/>
                <a:ea typeface="Consolas" pitchFamily="34" charset="-122"/>
                <a:cs typeface="Consolas" pitchFamily="34" charset="-120"/>
              </a:rPr>
              <a:t>  SQLI=0,XSS=0,RFI=0,LFI=35,RCE=5,</a:t>
            </a:r>
            <a:endParaRPr lang="en-US" sz="1200" dirty="0"/>
          </a:p>
          <a:p>
            <a:pPr algn="l" indent="0" marL="0">
              <a:lnSpc>
                <a:spcPct val="118000"/>
              </a:lnSpc>
              <a:buNone/>
            </a:pPr>
            <a:r>
              <a:rPr lang="en-US" sz="1200" dirty="0">
                <a:solidFill>
                  <a:srgbClr val="BFE3DC"/>
                </a:solidFill>
                <a:latin typeface="Consolas" pitchFamily="34" charset="0"/>
                <a:ea typeface="Consolas" pitchFamily="34" charset="-122"/>
                <a:cs typeface="Consolas" pitchFamily="34" charset="-120"/>
              </a:rPr>
              <a:t>  PHPI=0,HTTP=0,SESS=0)</a:t>
            </a:r>
            <a:endParaRPr lang="en-US" sz="1200" dirty="0"/>
          </a:p>
          <a:p>
            <a:pPr algn="l" indent="0" marL="0">
              <a:lnSpc>
                <a:spcPct val="118000"/>
              </a:lnSpc>
              <a:buNone/>
            </a:pPr>
            <a:endParaRPr lang="en-US" sz="1200" dirty="0"/>
          </a:p>
          <a:p>
            <a:pPr algn="l" indent="0" marL="0">
              <a:lnSpc>
                <a:spcPct val="118000"/>
              </a:lnSpc>
              <a:buNone/>
            </a:pPr>
            <a:r>
              <a:rPr lang="en-US" sz="1200" dirty="0">
                <a:solidFill>
                  <a:srgbClr val="6C8A96"/>
                </a:solidFill>
                <a:latin typeface="Consolas" pitchFamily="34" charset="0"/>
                <a:ea typeface="Consolas" pitchFamily="34" charset="-122"/>
                <a:cs typeface="Consolas" pitchFamily="34" charset="-120"/>
              </a:rPr>
              <a:t># each matched rule adds points to a category;</a:t>
            </a:r>
            <a:endParaRPr lang="en-US" sz="1200" dirty="0"/>
          </a:p>
          <a:p>
            <a:pPr algn="l" indent="0" marL="0">
              <a:lnSpc>
                <a:spcPct val="118000"/>
              </a:lnSpc>
              <a:buNone/>
            </a:pPr>
            <a:r>
              <a:rPr lang="en-US" sz="1200" dirty="0">
                <a:solidFill>
                  <a:srgbClr val="6C8A96"/>
                </a:solidFill>
                <a:latin typeface="Consolas" pitchFamily="34" charset="0"/>
                <a:ea typeface="Consolas" pitchFamily="34" charset="-122"/>
                <a:cs typeface="Consolas" pitchFamily="34" charset="-120"/>
              </a:rPr>
              <a:t># 980130 fires when the total crosses the threshold</a:t>
            </a:r>
            <a:endParaRPr lang="en-US" sz="1200" dirty="0"/>
          </a:p>
          <a:p>
            <a:pPr algn="l" indent="0" marL="0">
              <a:lnSpc>
                <a:spcPct val="118000"/>
              </a:lnSpc>
              <a:buNone/>
            </a:pPr>
            <a:r>
              <a:rPr lang="en-US" sz="1200" dirty="0">
                <a:solidFill>
                  <a:srgbClr val="6C8A96"/>
                </a:solidFill>
                <a:latin typeface="Consolas" pitchFamily="34" charset="0"/>
                <a:ea typeface="Consolas" pitchFamily="34" charset="-122"/>
                <a:cs typeface="Consolas" pitchFamily="34" charset="-120"/>
              </a:rPr>
              <a:t># LFI=35 = five-ish traversal rules matched at once</a:t>
            </a:r>
            <a:endParaRPr lang="en-US" sz="1200" dirty="0"/>
          </a:p>
        </p:txBody>
      </p:sp>
      <p:sp>
        <p:nvSpPr>
          <p:cNvPr id="10" name="Text 8"/>
          <p:cNvSpPr/>
          <p:nvPr/>
        </p:nvSpPr>
        <p:spPr>
          <a:xfrm>
            <a:off x="7863840" y="1920240"/>
            <a:ext cx="3749040" cy="365760"/>
          </a:xfrm>
          <a:prstGeom prst="rect">
            <a:avLst/>
          </a:prstGeom>
          <a:noFill/>
          <a:ln/>
        </p:spPr>
        <p:txBody>
          <a:bodyPr wrap="square" lIns="0" tIns="0" rIns="0" bIns="0" rtlCol="0" anchor="ctr"/>
          <a:lstStyle/>
          <a:p>
            <a:pPr indent="0" marL="0">
              <a:buNone/>
            </a:pPr>
            <a:r>
              <a:rPr lang="en-US" sz="1600" b="1" dirty="0">
                <a:solidFill>
                  <a:srgbClr val="134B56"/>
                </a:solidFill>
                <a:latin typeface="Segoe UI" pitchFamily="34" charset="0"/>
                <a:ea typeface="Segoe UI" pitchFamily="34" charset="-122"/>
                <a:cs typeface="Segoe UI" pitchFamily="34" charset="-120"/>
              </a:rPr>
              <a:t>Reading the verdict</a:t>
            </a:r>
            <a:endParaRPr lang="en-US" sz="1600" dirty="0"/>
          </a:p>
        </p:txBody>
      </p:sp>
      <p:sp>
        <p:nvSpPr>
          <p:cNvPr id="11" name="Text 9"/>
          <p:cNvSpPr/>
          <p:nvPr/>
        </p:nvSpPr>
        <p:spPr>
          <a:xfrm>
            <a:off x="7863840" y="2359152"/>
            <a:ext cx="3749040" cy="3840480"/>
          </a:xfrm>
          <a:prstGeom prst="rect">
            <a:avLst/>
          </a:prstGeom>
          <a:noFill/>
          <a:ln/>
        </p:spPr>
        <p:txBody>
          <a:bodyPr wrap="square" lIns="0" tIns="0" rIns="0" bIns="0" rtlCol="0" anchor="t"/>
          <a:lstStyle/>
          <a:p>
            <a:pPr algn="l" marL="152400" indent="-152400">
              <a:lnSpc>
                <a:spcPct val="112000"/>
              </a:lnSpc>
              <a:spcAft>
                <a:spcPts val="800"/>
              </a:spcAft>
              <a:buSzPct val="100000"/>
              <a:buChar char="▸"/>
            </a:pPr>
            <a:r>
              <a:rPr lang="en-US" sz="1300" dirty="0">
                <a:solidFill>
                  <a:srgbClr val="16232B"/>
                </a:solidFill>
                <a:latin typeface="Segoe UI" pitchFamily="34" charset="0"/>
                <a:ea typeface="Segoe UI" pitchFamily="34" charset="-122"/>
                <a:cs typeface="Segoe UI" pitchFamily="34" charset="-120"/>
              </a:rPr>
              <a:t>the category split names the attack classes</a:t>
            </a:r>
            <a:endParaRPr lang="en-US" sz="1300" dirty="0"/>
          </a:p>
          <a:p>
            <a:pPr algn="l" marL="152400" indent="-152400">
              <a:lnSpc>
                <a:spcPct val="112000"/>
              </a:lnSpc>
              <a:spcAft>
                <a:spcPts val="800"/>
              </a:spcAft>
              <a:buSzPct val="100000"/>
              <a:buChar char="▸"/>
            </a:pPr>
            <a:r>
              <a:rPr lang="en-US" sz="1300" dirty="0">
                <a:solidFill>
                  <a:srgbClr val="16232B"/>
                </a:solidFill>
                <a:latin typeface="Segoe UI" pitchFamily="34" charset="0"/>
                <a:ea typeface="Segoe UI" pitchFamily="34" charset="-122"/>
                <a:cs typeface="Segoe UI" pitchFamily="34" charset="-120"/>
              </a:rPr>
              <a:t>severity CRITICAL + score = confidence</a:t>
            </a:r>
            <a:endParaRPr lang="en-US" sz="1300" dirty="0"/>
          </a:p>
          <a:p>
            <a:pPr algn="l" marL="152400" indent="-152400">
              <a:lnSpc>
                <a:spcPct val="112000"/>
              </a:lnSpc>
              <a:spcAft>
                <a:spcPts val="800"/>
              </a:spcAft>
              <a:buSzPct val="100000"/>
              <a:buChar char="▸"/>
            </a:pPr>
            <a:r>
              <a:rPr lang="en-US" sz="1300" dirty="0">
                <a:solidFill>
                  <a:srgbClr val="16232B"/>
                </a:solidFill>
                <a:latin typeface="Segoe UI" pitchFamily="34" charset="0"/>
                <a:ea typeface="Segoe UI" pitchFamily="34" charset="-122"/>
                <a:cs typeface="Segoe UI" pitchFamily="34" charset="-120"/>
              </a:rPr>
              <a:t>DETECTION_ONLY = points but no block - check H footer</a:t>
            </a:r>
            <a:endParaRPr lang="en-US" sz="1300" dirty="0"/>
          </a:p>
          <a:p>
            <a:pPr algn="l" marL="152400" indent="-152400">
              <a:lnSpc>
                <a:spcPct val="112000"/>
              </a:lnSpc>
              <a:spcAft>
                <a:spcPts val="800"/>
              </a:spcAft>
              <a:buSzPct val="100000"/>
              <a:buChar char="▸"/>
            </a:pPr>
            <a:r>
              <a:rPr lang="en-US" sz="1300" dirty="0">
                <a:solidFill>
                  <a:srgbClr val="16232B"/>
                </a:solidFill>
                <a:latin typeface="Segoe UI" pitchFamily="34" charset="0"/>
                <a:ea typeface="Segoe UI" pitchFamily="34" charset="-122"/>
                <a:cs typeface="Segoe UI" pitchFamily="34" charset="-120"/>
              </a:rPr>
              <a:t>paranoia levels: higher = more rules, more noise</a:t>
            </a:r>
            <a:endParaRPr lang="en-US" sz="1300" dirty="0"/>
          </a:p>
        </p:txBody>
      </p:sp>
      <p:sp>
        <p:nvSpPr>
          <p:cNvPr id="25" name="Slide Number Placeholder 0"/>
          <p:cNvSpPr>
            <a:spLocks noGrp="1"/>
          </p:cNvSpPr>
          <p:nvPr>
            <p:ph type="sldNum" sz="quarter" idx="4294967295"/>
          </p:nvPr>
        </p:nvSpPr>
        <p:spPr>
          <a:xfrm>
            <a:off x="1147572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078"/>
                </a:solidFill>
                <a:latin typeface="Segoe UI"/>
                <a:ea typeface="Segoe UI"/>
                <a:cs typeface="Segoe U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lIns="0" tIns="0" rIns="0" bIns="0" rtlCol="0" anchor="ctr"/>
          <a:lstStyle/>
          <a:p>
            <a:pPr indent="0" marL="0">
              <a:buNone/>
            </a:pPr>
            <a:r>
              <a:rPr lang="en-US" sz="1200" b="1" spc="300" kern="0" dirty="0">
                <a:solidFill>
                  <a:srgbClr val="1B6B7A"/>
                </a:solidFill>
                <a:latin typeface="Segoe UI" pitchFamily="34" charset="0"/>
                <a:ea typeface="Segoe UI" pitchFamily="34" charset="-122"/>
                <a:cs typeface="Segoe UI" pitchFamily="34" charset="-120"/>
              </a:rPr>
              <a:t>TOOL PACK · 1 OF 2</a:t>
            </a:r>
            <a:endParaRPr lang="en-US" sz="1200" dirty="0"/>
          </a:p>
        </p:txBody>
      </p:sp>
      <p:sp>
        <p:nvSpPr>
          <p:cNvPr id="3" name="Text 1"/>
          <p:cNvSpPr/>
          <p:nvPr/>
        </p:nvSpPr>
        <p:spPr>
          <a:xfrm>
            <a:off x="548640" y="658368"/>
            <a:ext cx="11091672" cy="777240"/>
          </a:xfrm>
          <a:prstGeom prst="rect">
            <a:avLst/>
          </a:prstGeom>
          <a:noFill/>
          <a:ln/>
        </p:spPr>
        <p:txBody>
          <a:bodyPr wrap="square" lIns="0" tIns="0" rIns="0" bIns="0" rtlCol="0" anchor="ctr"/>
          <a:lstStyle/>
          <a:p>
            <a:pPr indent="0" marL="0">
              <a:buNone/>
            </a:pPr>
            <a:r>
              <a:rPr lang="en-US" sz="3200" b="1" dirty="0">
                <a:solidFill>
                  <a:srgbClr val="16232B"/>
                </a:solidFill>
                <a:latin typeface="Segoe UI" pitchFamily="34" charset="0"/>
                <a:ea typeface="Segoe UI" pitchFamily="34" charset="-122"/>
                <a:cs typeface="Segoe UI" pitchFamily="34" charset="-120"/>
              </a:rPr>
              <a:t>Signature grep table</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91672" cy="914400"/>
        </p:xfrm>
        <a:graphic>
          <a:graphicData uri="http://schemas.openxmlformats.org/drawingml/2006/table">
            <a:tbl>
              <a:tblPr/>
              <a:tblGrid>
                <a:gridCol w="2743200"/>
                <a:gridCol w="8439912"/>
              </a:tblGrid>
              <a:tr h="502920">
                <a:tc>
                  <a:txBody>
                    <a:bodyPr/>
                    <a:lstStyle/>
                    <a:p>
                      <a:pPr indent="0" marL="0">
                        <a:buNone/>
                      </a:pPr>
                      <a:r>
                        <a:rPr lang="en-US" sz="1200" b="1" dirty="0">
                          <a:solidFill>
                            <a:srgbClr val="FFFFFF"/>
                          </a:solidFill>
                          <a:latin typeface="Segoe UI" pitchFamily="34" charset="0"/>
                          <a:ea typeface="Segoe UI" pitchFamily="34" charset="-122"/>
                          <a:cs typeface="Segoe UI" pitchFamily="34" charset="-120"/>
                        </a:rPr>
                        <a:t>Hunt for</a:t>
                      </a:r>
                      <a:endParaRPr lang="en-US" sz="1200" dirty="0">
                        <a:latin typeface="Segoe UI" charset="0"/>
                        <a:ea typeface="Segoe UI" charset="0"/>
                        <a:cs typeface="Segoe UI"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1B6B7A"/>
                    </a:solidFill>
                  </a:tcPr>
                </a:tc>
                <a:tc>
                  <a:txBody>
                    <a:bodyPr/>
                    <a:lstStyle/>
                    <a:p>
                      <a:pPr indent="0" marL="0">
                        <a:buNone/>
                      </a:pPr>
                      <a:r>
                        <a:rPr lang="en-US" sz="1200" b="1" dirty="0">
                          <a:solidFill>
                            <a:srgbClr val="FFFFFF"/>
                          </a:solidFill>
                          <a:latin typeface="Segoe UI" pitchFamily="34" charset="0"/>
                          <a:ea typeface="Segoe UI" pitchFamily="34" charset="-122"/>
                          <a:cs typeface="Segoe UI" pitchFamily="34" charset="-120"/>
                        </a:rPr>
                        <a:t>Pattern</a:t>
                      </a:r>
                      <a:endParaRPr lang="en-US" sz="1200" dirty="0">
                        <a:latin typeface="Segoe UI" charset="0"/>
                        <a:ea typeface="Segoe UI" charset="0"/>
                        <a:cs typeface="Segoe UI"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1B6B7A"/>
                    </a:solidFill>
                  </a:tcPr>
                </a:tc>
              </a:tr>
              <a:tr h="502920">
                <a:tc>
                  <a:txBody>
                    <a:bodyPr/>
                    <a:lstStyle/>
                    <a:p>
                      <a:pPr indent="0" marL="0">
                        <a:buNone/>
                      </a:pPr>
                      <a:r>
                        <a:rPr lang="en-US" sz="1200" b="1" dirty="0">
                          <a:solidFill>
                            <a:srgbClr val="134B56"/>
                          </a:solidFill>
                          <a:latin typeface="Segoe UI" pitchFamily="34" charset="0"/>
                          <a:ea typeface="Segoe UI" pitchFamily="34" charset="-122"/>
                          <a:cs typeface="Segoe UI" pitchFamily="34" charset="-120"/>
                        </a:rPr>
                        <a:t>Traversal</a:t>
                      </a:r>
                      <a:endParaRPr lang="en-US" sz="1200" dirty="0">
                        <a:latin typeface="Segoe UI" charset="0"/>
                        <a:ea typeface="Segoe UI" charset="0"/>
                        <a:cs typeface="Segoe UI"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200" dirty="0">
                          <a:solidFill>
                            <a:srgbClr val="5B7078"/>
                          </a:solidFill>
                          <a:latin typeface="Consolas" pitchFamily="34" charset="0"/>
                          <a:ea typeface="Consolas" pitchFamily="34" charset="-122"/>
                          <a:cs typeface="Consolas" pitchFamily="34" charset="-120"/>
                        </a:rPr>
                        <a:t>grep -E '\.\./|%2F\.\.' access.log</a:t>
                      </a:r>
                      <a:endParaRPr lang="en-US" sz="1200" dirty="0">
                        <a:latin typeface="Consolas" charset="0"/>
                        <a:ea typeface="Consolas" charset="0"/>
                        <a:cs typeface="Consolas"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r>
              <a:tr h="502920">
                <a:tc>
                  <a:txBody>
                    <a:bodyPr/>
                    <a:lstStyle/>
                    <a:p>
                      <a:pPr indent="0" marL="0">
                        <a:buNone/>
                      </a:pPr>
                      <a:r>
                        <a:rPr lang="en-US" sz="1200" b="1" dirty="0">
                          <a:solidFill>
                            <a:srgbClr val="134B56"/>
                          </a:solidFill>
                          <a:latin typeface="Segoe UI" pitchFamily="34" charset="0"/>
                          <a:ea typeface="Segoe UI" pitchFamily="34" charset="-122"/>
                          <a:cs typeface="Segoe UI" pitchFamily="34" charset="-120"/>
                        </a:rPr>
                        <a:t>RCE verbs</a:t>
                      </a:r>
                      <a:endParaRPr lang="en-US" sz="1200" dirty="0">
                        <a:latin typeface="Segoe UI" charset="0"/>
                        <a:ea typeface="Segoe UI" charset="0"/>
                        <a:cs typeface="Segoe UI"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200" dirty="0">
                          <a:solidFill>
                            <a:srgbClr val="5B7078"/>
                          </a:solidFill>
                          <a:latin typeface="Consolas" pitchFamily="34" charset="0"/>
                          <a:ea typeface="Consolas" pitchFamily="34" charset="-122"/>
                          <a:cs typeface="Consolas" pitchFamily="34" charset="-120"/>
                        </a:rPr>
                        <a:t>grep -E 'cmd=|whoami|cat\+|%2Fetc' modsec_audit.log</a:t>
                      </a:r>
                      <a:endParaRPr lang="en-US" sz="1200" dirty="0">
                        <a:latin typeface="Consolas" charset="0"/>
                        <a:ea typeface="Consolas" charset="0"/>
                        <a:cs typeface="Consolas"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r>
              <a:tr h="502920">
                <a:tc>
                  <a:txBody>
                    <a:bodyPr/>
                    <a:lstStyle/>
                    <a:p>
                      <a:pPr indent="0" marL="0">
                        <a:buNone/>
                      </a:pPr>
                      <a:r>
                        <a:rPr lang="en-US" sz="1200" b="1" dirty="0">
                          <a:solidFill>
                            <a:srgbClr val="134B56"/>
                          </a:solidFill>
                          <a:latin typeface="Segoe UI" pitchFamily="34" charset="0"/>
                          <a:ea typeface="Segoe UI" pitchFamily="34" charset="-122"/>
                          <a:cs typeface="Segoe UI" pitchFamily="34" charset="-120"/>
                        </a:rPr>
                        <a:t>SQLi</a:t>
                      </a:r>
                      <a:endParaRPr lang="en-US" sz="1200" dirty="0">
                        <a:latin typeface="Segoe UI" charset="0"/>
                        <a:ea typeface="Segoe UI" charset="0"/>
                        <a:cs typeface="Segoe UI"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200" dirty="0">
                          <a:solidFill>
                            <a:srgbClr val="5B7078"/>
                          </a:solidFill>
                          <a:latin typeface="Consolas" pitchFamily="34" charset="0"/>
                          <a:ea typeface="Consolas" pitchFamily="34" charset="-122"/>
                          <a:cs typeface="Consolas" pitchFamily="34" charset="-120"/>
                        </a:rPr>
                        <a:t>grep -Ei "union|select|'--|1=1|libinjection" *</a:t>
                      </a:r>
                      <a:endParaRPr lang="en-US" sz="1200" dirty="0">
                        <a:latin typeface="Consolas" charset="0"/>
                        <a:ea typeface="Consolas" charset="0"/>
                        <a:cs typeface="Consolas"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r>
              <a:tr h="502920">
                <a:tc>
                  <a:txBody>
                    <a:bodyPr/>
                    <a:lstStyle/>
                    <a:p>
                      <a:pPr indent="0" marL="0">
                        <a:buNone/>
                      </a:pPr>
                      <a:r>
                        <a:rPr lang="en-US" sz="1200" b="1" dirty="0">
                          <a:solidFill>
                            <a:srgbClr val="134B56"/>
                          </a:solidFill>
                          <a:latin typeface="Segoe UI" pitchFamily="34" charset="0"/>
                          <a:ea typeface="Segoe UI" pitchFamily="34" charset="-122"/>
                          <a:cs typeface="Segoe UI" pitchFamily="34" charset="-120"/>
                        </a:rPr>
                        <a:t>Tool UAs</a:t>
                      </a:r>
                      <a:endParaRPr lang="en-US" sz="1200" dirty="0">
                        <a:latin typeface="Segoe UI" charset="0"/>
                        <a:ea typeface="Segoe UI" charset="0"/>
                        <a:cs typeface="Segoe UI"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200" dirty="0">
                          <a:solidFill>
                            <a:srgbClr val="5B7078"/>
                          </a:solidFill>
                          <a:latin typeface="Consolas" pitchFamily="34" charset="0"/>
                          <a:ea typeface="Consolas" pitchFamily="34" charset="-122"/>
                          <a:cs typeface="Consolas" pitchFamily="34" charset="-120"/>
                        </a:rPr>
                        <a:t>grep -Ei 'sqlmap|dirb|nikto|gobuster|nmap' access.log</a:t>
                      </a:r>
                      <a:endParaRPr lang="en-US" sz="1200" dirty="0">
                        <a:latin typeface="Consolas" charset="0"/>
                        <a:ea typeface="Consolas" charset="0"/>
                        <a:cs typeface="Consolas"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r>
              <a:tr h="502920">
                <a:tc>
                  <a:txBody>
                    <a:bodyPr/>
                    <a:lstStyle/>
                    <a:p>
                      <a:pPr indent="0" marL="0">
                        <a:buNone/>
                      </a:pPr>
                      <a:r>
                        <a:rPr lang="en-US" sz="1200" b="1" dirty="0">
                          <a:solidFill>
                            <a:srgbClr val="134B56"/>
                          </a:solidFill>
                          <a:latin typeface="Segoe UI" pitchFamily="34" charset="0"/>
                          <a:ea typeface="Segoe UI" pitchFamily="34" charset="-122"/>
                          <a:cs typeface="Segoe UI" pitchFamily="34" charset="-120"/>
                        </a:rPr>
                        <a:t>Rule IDs</a:t>
                      </a:r>
                      <a:endParaRPr lang="en-US" sz="1200" dirty="0">
                        <a:latin typeface="Segoe UI" charset="0"/>
                        <a:ea typeface="Segoe UI" charset="0"/>
                        <a:cs typeface="Segoe UI"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200" dirty="0">
                          <a:solidFill>
                            <a:srgbClr val="5B7078"/>
                          </a:solidFill>
                          <a:latin typeface="Consolas" pitchFamily="34" charset="0"/>
                          <a:ea typeface="Consolas" pitchFamily="34" charset="-122"/>
                          <a:cs typeface="Consolas" pitchFamily="34" charset="-120"/>
                        </a:rPr>
                        <a:t>grep -oE '\[id "[0-9]+"\]' error.log | sort | uniq -c</a:t>
                      </a:r>
                      <a:endParaRPr lang="en-US" sz="1200" dirty="0">
                        <a:latin typeface="Consolas" charset="0"/>
                        <a:ea typeface="Consolas" charset="0"/>
                        <a:cs typeface="Consolas"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r>
              <a:tr h="502920">
                <a:tc>
                  <a:txBody>
                    <a:bodyPr/>
                    <a:lstStyle/>
                    <a:p>
                      <a:pPr indent="0" marL="0">
                        <a:buNone/>
                      </a:pPr>
                      <a:r>
                        <a:rPr lang="en-US" sz="1200" b="1" dirty="0">
                          <a:solidFill>
                            <a:srgbClr val="134B56"/>
                          </a:solidFill>
                          <a:latin typeface="Segoe UI" pitchFamily="34" charset="0"/>
                          <a:ea typeface="Segoe UI" pitchFamily="34" charset="-122"/>
                          <a:cs typeface="Segoe UI" pitchFamily="34" charset="-120"/>
                        </a:rPr>
                        <a:t>Errors that matter</a:t>
                      </a:r>
                      <a:endParaRPr lang="en-US" sz="1200" dirty="0">
                        <a:latin typeface="Segoe UI" charset="0"/>
                        <a:ea typeface="Segoe UI" charset="0"/>
                        <a:cs typeface="Segoe UI"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200" dirty="0">
                          <a:solidFill>
                            <a:srgbClr val="5B7078"/>
                          </a:solidFill>
                          <a:latin typeface="Consolas" pitchFamily="34" charset="0"/>
                          <a:ea typeface="Consolas" pitchFamily="34" charset="-122"/>
                          <a:cs typeface="Consolas" pitchFamily="34" charset="-120"/>
                        </a:rPr>
                        <a:t>grep -E 'Permission denied|Fatal error' error.log</a:t>
                      </a:r>
                      <a:endParaRPr lang="en-US" sz="1200" dirty="0">
                        <a:latin typeface="Consolas" charset="0"/>
                        <a:ea typeface="Consolas" charset="0"/>
                        <a:cs typeface="Consolas"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47572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078"/>
                </a:solidFill>
                <a:latin typeface="Segoe UI"/>
                <a:ea typeface="Segoe UI"/>
                <a:cs typeface="Segoe U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lIns="0" tIns="0" rIns="0" bIns="0" rtlCol="0" anchor="ctr"/>
          <a:lstStyle/>
          <a:p>
            <a:pPr indent="0" marL="0">
              <a:buNone/>
            </a:pPr>
            <a:r>
              <a:rPr lang="en-US" sz="1200" b="1" spc="300" kern="0" dirty="0">
                <a:solidFill>
                  <a:srgbClr val="1B6B7A"/>
                </a:solidFill>
                <a:latin typeface="Segoe UI" pitchFamily="34" charset="0"/>
                <a:ea typeface="Segoe UI" pitchFamily="34" charset="-122"/>
                <a:cs typeface="Segoe UI" pitchFamily="34" charset="-120"/>
              </a:rPr>
              <a:t>TOOL PACK · 2 OF 2</a:t>
            </a:r>
            <a:endParaRPr lang="en-US" sz="1200" dirty="0"/>
          </a:p>
        </p:txBody>
      </p:sp>
      <p:sp>
        <p:nvSpPr>
          <p:cNvPr id="3" name="Text 1"/>
          <p:cNvSpPr/>
          <p:nvPr/>
        </p:nvSpPr>
        <p:spPr>
          <a:xfrm>
            <a:off x="548640" y="658368"/>
            <a:ext cx="11091672" cy="777240"/>
          </a:xfrm>
          <a:prstGeom prst="rect">
            <a:avLst/>
          </a:prstGeom>
          <a:noFill/>
          <a:ln/>
        </p:spPr>
        <p:txBody>
          <a:bodyPr wrap="square" lIns="0" tIns="0" rIns="0" bIns="0" rtlCol="0" anchor="ctr"/>
          <a:lstStyle/>
          <a:p>
            <a:pPr indent="0" marL="0">
              <a:buNone/>
            </a:pPr>
            <a:r>
              <a:rPr lang="en-US" sz="3200" b="1" dirty="0">
                <a:solidFill>
                  <a:srgbClr val="16232B"/>
                </a:solidFill>
                <a:latin typeface="Segoe UI" pitchFamily="34" charset="0"/>
                <a:ea typeface="Segoe UI" pitchFamily="34" charset="-122"/>
                <a:cs typeface="Segoe UI" pitchFamily="34" charset="-120"/>
              </a:rPr>
              <a:t>Decode chains you will actually need</a:t>
            </a:r>
            <a:endParaRPr lang="en-US" sz="3200" dirty="0"/>
          </a:p>
        </p:txBody>
      </p:sp>
      <p:sp>
        <p:nvSpPr>
          <p:cNvPr id="4" name="Shape 2"/>
          <p:cNvSpPr/>
          <p:nvPr/>
        </p:nvSpPr>
        <p:spPr>
          <a:xfrm>
            <a:off x="548640" y="1783080"/>
            <a:ext cx="11091672" cy="4480560"/>
          </a:xfrm>
          <a:prstGeom prst="roundRect">
            <a:avLst>
              <a:gd name="adj" fmla="val 1837"/>
            </a:avLst>
          </a:prstGeom>
          <a:solidFill>
            <a:srgbClr val="0B1B26"/>
          </a:solidFill>
          <a:ln w="12700">
            <a:solidFill>
              <a:srgbClr val="1E3646"/>
            </a:solidFill>
            <a:prstDash val="solid"/>
          </a:ln>
          <a:effectLst>
            <a:outerShdw sx="100000" sy="100000" kx="0" ky="0" algn="bl" rotWithShape="0" blurRad="88900" dist="25400" dir="2700000">
              <a:srgbClr val="0F2233">
                <a:alpha val="18000"/>
              </a:srgbClr>
            </a:outerShdw>
          </a:effectLst>
        </p:spPr>
      </p:sp>
      <p:sp>
        <p:nvSpPr>
          <p:cNvPr id="5" name="Shape 3"/>
          <p:cNvSpPr/>
          <p:nvPr/>
        </p:nvSpPr>
        <p:spPr>
          <a:xfrm>
            <a:off x="731520" y="1929384"/>
            <a:ext cx="100584" cy="100584"/>
          </a:xfrm>
          <a:prstGeom prst="ellipse">
            <a:avLst/>
          </a:prstGeom>
          <a:solidFill>
            <a:srgbClr val="E8686A"/>
          </a:solidFill>
          <a:ln/>
        </p:spPr>
      </p:sp>
      <p:sp>
        <p:nvSpPr>
          <p:cNvPr id="6" name="Shape 4"/>
          <p:cNvSpPr/>
          <p:nvPr/>
        </p:nvSpPr>
        <p:spPr>
          <a:xfrm>
            <a:off x="950976" y="1929384"/>
            <a:ext cx="100584" cy="100584"/>
          </a:xfrm>
          <a:prstGeom prst="ellipse">
            <a:avLst/>
          </a:prstGeom>
          <a:solidFill>
            <a:srgbClr val="E9C46A"/>
          </a:solidFill>
          <a:ln/>
        </p:spPr>
      </p:sp>
      <p:sp>
        <p:nvSpPr>
          <p:cNvPr id="7" name="Shape 5"/>
          <p:cNvSpPr/>
          <p:nvPr/>
        </p:nvSpPr>
        <p:spPr>
          <a:xfrm>
            <a:off x="1170432" y="1929384"/>
            <a:ext cx="100584" cy="100584"/>
          </a:xfrm>
          <a:prstGeom prst="ellipse">
            <a:avLst/>
          </a:prstGeom>
          <a:solidFill>
            <a:srgbClr val="57B894"/>
          </a:solidFill>
          <a:ln/>
        </p:spPr>
      </p:sp>
      <p:sp>
        <p:nvSpPr>
          <p:cNvPr id="8" name="Text 6"/>
          <p:cNvSpPr/>
          <p:nvPr/>
        </p:nvSpPr>
        <p:spPr>
          <a:xfrm>
            <a:off x="1463040" y="1874520"/>
            <a:ext cx="9994392" cy="237744"/>
          </a:xfrm>
          <a:prstGeom prst="rect">
            <a:avLst/>
          </a:prstGeom>
          <a:noFill/>
          <a:ln/>
        </p:spPr>
        <p:txBody>
          <a:bodyPr wrap="square" lIns="0" tIns="0" rIns="0" bIns="0" rtlCol="0" anchor="ctr"/>
          <a:lstStyle/>
          <a:p>
            <a:pPr algn="r" indent="0" marL="0">
              <a:buNone/>
            </a:pPr>
            <a:r>
              <a:rPr lang="en-US" sz="1000" dirty="0">
                <a:solidFill>
                  <a:srgbClr val="6C8A96"/>
                </a:solidFill>
                <a:latin typeface="Consolas" pitchFamily="34" charset="0"/>
                <a:ea typeface="Consolas" pitchFamily="34" charset="-122"/>
                <a:cs typeface="Consolas" pitchFamily="34" charset="-120"/>
              </a:rPr>
              <a:t>root@dfir:/var/log/apache2#</a:t>
            </a:r>
            <a:endParaRPr lang="en-US" sz="1000" dirty="0"/>
          </a:p>
        </p:txBody>
      </p:sp>
      <p:sp>
        <p:nvSpPr>
          <p:cNvPr id="9" name="Text 7"/>
          <p:cNvSpPr/>
          <p:nvPr/>
        </p:nvSpPr>
        <p:spPr>
          <a:xfrm>
            <a:off x="804672" y="2167128"/>
            <a:ext cx="10588752" cy="3931920"/>
          </a:xfrm>
          <a:prstGeom prst="rect">
            <a:avLst/>
          </a:prstGeom>
          <a:noFill/>
          <a:ln/>
        </p:spPr>
        <p:txBody>
          <a:bodyPr wrap="square" lIns="0" tIns="0" rIns="0" bIns="0" rtlCol="0" anchor="t"/>
          <a:lstStyle/>
          <a:p>
            <a:pPr algn="l" indent="0" marL="0">
              <a:lnSpc>
                <a:spcPct val="118000"/>
              </a:lnSpc>
              <a:buNone/>
            </a:pPr>
            <a:r>
              <a:rPr lang="en-US" sz="1250" dirty="0">
                <a:solidFill>
                  <a:srgbClr val="6C8A96"/>
                </a:solidFill>
                <a:latin typeface="Consolas" pitchFamily="34" charset="0"/>
                <a:ea typeface="Consolas" pitchFamily="34" charset="-122"/>
                <a:cs typeface="Consolas" pitchFamily="34" charset="-120"/>
              </a:rPr>
              <a:t># 1. URL decode (once or twice):</a:t>
            </a:r>
            <a:endParaRPr lang="en-US" sz="1250" dirty="0"/>
          </a:p>
          <a:p>
            <a:pPr algn="l" indent="0" marL="0">
              <a:lnSpc>
                <a:spcPct val="118000"/>
              </a:lnSpc>
              <a:buNone/>
            </a:pPr>
            <a:r>
              <a:rPr lang="en-US" sz="1250" dirty="0">
                <a:solidFill>
                  <a:srgbClr val="37DCF2"/>
                </a:solidFill>
                <a:latin typeface="Consolas" pitchFamily="34" charset="0"/>
                <a:ea typeface="Consolas" pitchFamily="34" charset="-122"/>
                <a:cs typeface="Consolas" pitchFamily="34" charset="-120"/>
              </a:rPr>
              <a:t>$ python3 -c "import urllib.parse as u; print(u.unquote_plus(S))"</a:t>
            </a:r>
            <a:endParaRPr lang="en-US" sz="1250" dirty="0"/>
          </a:p>
          <a:p>
            <a:pPr algn="l" indent="0" marL="0">
              <a:lnSpc>
                <a:spcPct val="118000"/>
              </a:lnSpc>
              <a:buNone/>
            </a:pPr>
            <a:endParaRPr lang="en-US" sz="1250" dirty="0"/>
          </a:p>
          <a:p>
            <a:pPr algn="l" indent="0" marL="0">
              <a:lnSpc>
                <a:spcPct val="118000"/>
              </a:lnSpc>
              <a:buNone/>
            </a:pPr>
            <a:r>
              <a:rPr lang="en-US" sz="1250" dirty="0">
                <a:solidFill>
                  <a:srgbClr val="6C8A96"/>
                </a:solidFill>
                <a:latin typeface="Consolas" pitchFamily="34" charset="0"/>
                <a:ea typeface="Consolas" pitchFamily="34" charset="-122"/>
                <a:cs typeface="Consolas" pitchFamily="34" charset="-120"/>
              </a:rPr>
              <a:t># 2. base64 blobs:</a:t>
            </a:r>
            <a:endParaRPr lang="en-US" sz="1250" dirty="0"/>
          </a:p>
          <a:p>
            <a:pPr algn="l" indent="0" marL="0">
              <a:lnSpc>
                <a:spcPct val="118000"/>
              </a:lnSpc>
              <a:buNone/>
            </a:pPr>
            <a:r>
              <a:rPr lang="en-US" sz="1250" dirty="0">
                <a:solidFill>
                  <a:srgbClr val="37DCF2"/>
                </a:solidFill>
                <a:latin typeface="Consolas" pitchFamily="34" charset="0"/>
                <a:ea typeface="Consolas" pitchFamily="34" charset="-122"/>
                <a:cs typeface="Consolas" pitchFamily="34" charset="-120"/>
              </a:rPr>
              <a:t>$ echo 'ZmxhZ3toMXBw...' | base64 -d</a:t>
            </a:r>
            <a:endParaRPr lang="en-US" sz="1250" dirty="0"/>
          </a:p>
          <a:p>
            <a:pPr algn="l" indent="0" marL="0">
              <a:lnSpc>
                <a:spcPct val="118000"/>
              </a:lnSpc>
              <a:buNone/>
            </a:pPr>
            <a:endParaRPr lang="en-US" sz="1250" dirty="0"/>
          </a:p>
          <a:p>
            <a:pPr algn="l" indent="0" marL="0">
              <a:lnSpc>
                <a:spcPct val="118000"/>
              </a:lnSpc>
              <a:buNone/>
            </a:pPr>
            <a:r>
              <a:rPr lang="en-US" sz="1250" dirty="0">
                <a:solidFill>
                  <a:srgbClr val="6C8A96"/>
                </a:solidFill>
                <a:latin typeface="Consolas" pitchFamily="34" charset="0"/>
                <a:ea typeface="Consolas" pitchFamily="34" charset="-122"/>
                <a:cs typeface="Consolas" pitchFamily="34" charset="-120"/>
              </a:rPr>
              <a:t># 3. SQL char() sequences -&gt; ASCII:</a:t>
            </a:r>
            <a:endParaRPr lang="en-US" sz="1250" dirty="0"/>
          </a:p>
          <a:p>
            <a:pPr algn="l" indent="0" marL="0">
              <a:lnSpc>
                <a:spcPct val="118000"/>
              </a:lnSpc>
              <a:buNone/>
            </a:pPr>
            <a:r>
              <a:rPr lang="en-US" sz="1250" dirty="0">
                <a:solidFill>
                  <a:srgbClr val="37DCF2"/>
                </a:solidFill>
                <a:latin typeface="Consolas" pitchFamily="34" charset="0"/>
                <a:ea typeface="Consolas" pitchFamily="34" charset="-122"/>
                <a:cs typeface="Consolas" pitchFamily="34" charset="-120"/>
              </a:rPr>
              <a:t>$ python3 -c "print(''.join(chr(c) for c in [90,109,120]))"</a:t>
            </a:r>
            <a:endParaRPr lang="en-US" sz="1250" dirty="0"/>
          </a:p>
          <a:p>
            <a:pPr algn="l" indent="0" marL="0">
              <a:lnSpc>
                <a:spcPct val="118000"/>
              </a:lnSpc>
              <a:buNone/>
            </a:pPr>
            <a:r>
              <a:rPr lang="en-US" sz="1250" b="1" dirty="0">
                <a:solidFill>
                  <a:srgbClr val="FFD166"/>
                </a:solidFill>
                <a:latin typeface="Consolas" pitchFamily="34" charset="0"/>
                <a:ea typeface="Consolas" pitchFamily="34" charset="-122"/>
                <a:cs typeface="Consolas" pitchFamily="34" charset="-120"/>
              </a:rPr>
              <a:t>   Zmx   # then recognize base64 and decode again</a:t>
            </a:r>
            <a:endParaRPr lang="en-US" sz="1250" dirty="0"/>
          </a:p>
        </p:txBody>
      </p:sp>
      <p:sp>
        <p:nvSpPr>
          <p:cNvPr id="25" name="Slide Number Placeholder 0"/>
          <p:cNvSpPr>
            <a:spLocks noGrp="1"/>
          </p:cNvSpPr>
          <p:nvPr>
            <p:ph type="sldNum" sz="quarter" idx="4294967295"/>
          </p:nvPr>
        </p:nvSpPr>
        <p:spPr>
          <a:xfrm>
            <a:off x="1147572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078"/>
                </a:solidFill>
                <a:latin typeface="Segoe UI"/>
                <a:ea typeface="Segoe UI"/>
                <a:cs typeface="Segoe U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lIns="0" tIns="0" rIns="0" bIns="0" rtlCol="0" anchor="ctr"/>
          <a:lstStyle/>
          <a:p>
            <a:pPr indent="0" marL="0">
              <a:buNone/>
            </a:pPr>
            <a:r>
              <a:rPr lang="en-US" sz="1200" b="1" spc="300" kern="0" dirty="0">
                <a:solidFill>
                  <a:srgbClr val="1B6B7A"/>
                </a:solidFill>
                <a:latin typeface="Segoe UI" pitchFamily="34" charset="0"/>
                <a:ea typeface="Segoe UI" pitchFamily="34" charset="-122"/>
                <a:cs typeface="Segoe UI" pitchFamily="34" charset="-120"/>
              </a:rPr>
              <a:t>WORKED · CHALLENGE A (1 OF 3)</a:t>
            </a:r>
            <a:endParaRPr lang="en-US" sz="1200" dirty="0"/>
          </a:p>
        </p:txBody>
      </p:sp>
      <p:sp>
        <p:nvSpPr>
          <p:cNvPr id="3" name="Text 1"/>
          <p:cNvSpPr/>
          <p:nvPr/>
        </p:nvSpPr>
        <p:spPr>
          <a:xfrm>
            <a:off x="548640" y="658368"/>
            <a:ext cx="11091672" cy="777240"/>
          </a:xfrm>
          <a:prstGeom prst="rect">
            <a:avLst/>
          </a:prstGeom>
          <a:noFill/>
          <a:ln/>
        </p:spPr>
        <p:txBody>
          <a:bodyPr wrap="square" lIns="0" tIns="0" rIns="0" bIns="0" rtlCol="0" anchor="ctr"/>
          <a:lstStyle/>
          <a:p>
            <a:pPr indent="0" marL="0">
              <a:buNone/>
            </a:pPr>
            <a:r>
              <a:rPr lang="en-US" sz="3200" b="1" dirty="0">
                <a:solidFill>
                  <a:srgbClr val="16232B"/>
                </a:solidFill>
                <a:latin typeface="Segoe UI" pitchFamily="34" charset="0"/>
                <a:ea typeface="Segoe UI" pitchFamily="34" charset="-122"/>
                <a:cs typeface="Segoe UI" pitchFamily="34" charset="-120"/>
              </a:rPr>
              <a:t>Recon, then the traversal ladder</a:t>
            </a:r>
            <a:endParaRPr lang="en-US" sz="3200" dirty="0"/>
          </a:p>
        </p:txBody>
      </p:sp>
      <p:sp>
        <p:nvSpPr>
          <p:cNvPr id="4" name="Shape 2"/>
          <p:cNvSpPr/>
          <p:nvPr/>
        </p:nvSpPr>
        <p:spPr>
          <a:xfrm>
            <a:off x="548640" y="1783080"/>
            <a:ext cx="11091672" cy="4480560"/>
          </a:xfrm>
          <a:prstGeom prst="roundRect">
            <a:avLst>
              <a:gd name="adj" fmla="val 1837"/>
            </a:avLst>
          </a:prstGeom>
          <a:solidFill>
            <a:srgbClr val="0B1B26"/>
          </a:solidFill>
          <a:ln w="12700">
            <a:solidFill>
              <a:srgbClr val="1E3646"/>
            </a:solidFill>
            <a:prstDash val="solid"/>
          </a:ln>
          <a:effectLst>
            <a:outerShdw sx="100000" sy="100000" kx="0" ky="0" algn="bl" rotWithShape="0" blurRad="88900" dist="25400" dir="2700000">
              <a:srgbClr val="0F2233">
                <a:alpha val="18000"/>
              </a:srgbClr>
            </a:outerShdw>
          </a:effectLst>
        </p:spPr>
      </p:sp>
      <p:sp>
        <p:nvSpPr>
          <p:cNvPr id="5" name="Shape 3"/>
          <p:cNvSpPr/>
          <p:nvPr/>
        </p:nvSpPr>
        <p:spPr>
          <a:xfrm>
            <a:off x="731520" y="1929384"/>
            <a:ext cx="100584" cy="100584"/>
          </a:xfrm>
          <a:prstGeom prst="ellipse">
            <a:avLst/>
          </a:prstGeom>
          <a:solidFill>
            <a:srgbClr val="E8686A"/>
          </a:solidFill>
          <a:ln/>
        </p:spPr>
      </p:sp>
      <p:sp>
        <p:nvSpPr>
          <p:cNvPr id="6" name="Shape 4"/>
          <p:cNvSpPr/>
          <p:nvPr/>
        </p:nvSpPr>
        <p:spPr>
          <a:xfrm>
            <a:off x="950976" y="1929384"/>
            <a:ext cx="100584" cy="100584"/>
          </a:xfrm>
          <a:prstGeom prst="ellipse">
            <a:avLst/>
          </a:prstGeom>
          <a:solidFill>
            <a:srgbClr val="E9C46A"/>
          </a:solidFill>
          <a:ln/>
        </p:spPr>
      </p:sp>
      <p:sp>
        <p:nvSpPr>
          <p:cNvPr id="7" name="Shape 5"/>
          <p:cNvSpPr/>
          <p:nvPr/>
        </p:nvSpPr>
        <p:spPr>
          <a:xfrm>
            <a:off x="1170432" y="1929384"/>
            <a:ext cx="100584" cy="100584"/>
          </a:xfrm>
          <a:prstGeom prst="ellipse">
            <a:avLst/>
          </a:prstGeom>
          <a:solidFill>
            <a:srgbClr val="57B894"/>
          </a:solidFill>
          <a:ln/>
        </p:spPr>
      </p:sp>
      <p:sp>
        <p:nvSpPr>
          <p:cNvPr id="8" name="Text 6"/>
          <p:cNvSpPr/>
          <p:nvPr/>
        </p:nvSpPr>
        <p:spPr>
          <a:xfrm>
            <a:off x="1463040" y="1874520"/>
            <a:ext cx="9994392" cy="237744"/>
          </a:xfrm>
          <a:prstGeom prst="rect">
            <a:avLst/>
          </a:prstGeom>
          <a:noFill/>
          <a:ln/>
        </p:spPr>
        <p:txBody>
          <a:bodyPr wrap="square" lIns="0" tIns="0" rIns="0" bIns="0" rtlCol="0" anchor="ctr"/>
          <a:lstStyle/>
          <a:p>
            <a:pPr algn="r" indent="0" marL="0">
              <a:buNone/>
            </a:pPr>
            <a:r>
              <a:rPr lang="en-US" sz="1000" dirty="0">
                <a:solidFill>
                  <a:srgbClr val="6C8A96"/>
                </a:solidFill>
                <a:latin typeface="Consolas" pitchFamily="34" charset="0"/>
                <a:ea typeface="Consolas" pitchFamily="34" charset="-122"/>
                <a:cs typeface="Consolas" pitchFamily="34" charset="-120"/>
              </a:rPr>
              <a:t>root@dfir:/var/log/apache2#</a:t>
            </a:r>
            <a:endParaRPr lang="en-US" sz="1000" dirty="0"/>
          </a:p>
        </p:txBody>
      </p:sp>
      <p:sp>
        <p:nvSpPr>
          <p:cNvPr id="9" name="Text 7"/>
          <p:cNvSpPr/>
          <p:nvPr/>
        </p:nvSpPr>
        <p:spPr>
          <a:xfrm>
            <a:off x="804672" y="2167128"/>
            <a:ext cx="10588752" cy="3931920"/>
          </a:xfrm>
          <a:prstGeom prst="rect">
            <a:avLst/>
          </a:prstGeom>
          <a:noFill/>
          <a:ln/>
        </p:spPr>
        <p:txBody>
          <a:bodyPr wrap="square" lIns="0" tIns="0" rIns="0" bIns="0" rtlCol="0" anchor="t"/>
          <a:lstStyle/>
          <a:p>
            <a:pPr algn="l" indent="0" marL="0">
              <a:lnSpc>
                <a:spcPct val="118000"/>
              </a:lnSpc>
              <a:buNone/>
            </a:pPr>
            <a:r>
              <a:rPr lang="en-US" sz="1200" dirty="0">
                <a:solidFill>
                  <a:srgbClr val="6C8A96"/>
                </a:solidFill>
                <a:latin typeface="Consolas" pitchFamily="34" charset="0"/>
                <a:ea typeface="Consolas" pitchFamily="34" charset="-122"/>
                <a:cs typeface="Consolas" pitchFamily="34" charset="-120"/>
              </a:rPr>
              <a:t># Q1: one IP dominates:</a:t>
            </a:r>
            <a:endParaRPr lang="en-US" sz="1200" dirty="0"/>
          </a:p>
          <a:p>
            <a:pPr algn="l" indent="0" marL="0">
              <a:lnSpc>
                <a:spcPct val="118000"/>
              </a:lnSpc>
              <a:buNone/>
            </a:pPr>
            <a:r>
              <a:rPr lang="en-US" sz="1200" b="1" dirty="0">
                <a:solidFill>
                  <a:srgbClr val="FFD166"/>
                </a:solidFill>
                <a:latin typeface="Consolas" pitchFamily="34" charset="0"/>
                <a:ea typeface="Consolas" pitchFamily="34" charset="-122"/>
                <a:cs typeface="Consolas" pitchFamily="34" charset="-120"/>
              </a:rPr>
              <a:t>192.168.0.106   (38 requests, Firefox 102 on Ubuntu Linux X11)</a:t>
            </a:r>
            <a:endParaRPr lang="en-US" sz="1200" dirty="0"/>
          </a:p>
          <a:p>
            <a:pPr algn="l" indent="0" marL="0">
              <a:lnSpc>
                <a:spcPct val="118000"/>
              </a:lnSpc>
              <a:buNone/>
            </a:pPr>
            <a:endParaRPr lang="en-US" sz="1200" dirty="0"/>
          </a:p>
          <a:p>
            <a:pPr algn="l" indent="0" marL="0">
              <a:lnSpc>
                <a:spcPct val="118000"/>
              </a:lnSpc>
              <a:buNone/>
            </a:pPr>
            <a:r>
              <a:rPr lang="en-US" sz="1200" dirty="0">
                <a:solidFill>
                  <a:srgbClr val="6C8A96"/>
                </a:solidFill>
                <a:latin typeface="Consolas" pitchFamily="34" charset="0"/>
                <a:ea typeface="Consolas" pitchFamily="34" charset="-122"/>
                <a:cs typeface="Consolas" pitchFamily="34" charset="-120"/>
              </a:rPr>
              <a:t># Q2 (part 1): the ladder - 01:35:07 to 01:35:30</a:t>
            </a:r>
            <a:endParaRPr lang="en-US" sz="1200" dirty="0"/>
          </a:p>
          <a:p>
            <a:pPr algn="l" indent="0" marL="0">
              <a:lnSpc>
                <a:spcPct val="118000"/>
              </a:lnSpc>
              <a:buNone/>
            </a:pPr>
            <a:r>
              <a:rPr lang="en-US" sz="1200" dirty="0">
                <a:solidFill>
                  <a:srgbClr val="BFE3DC"/>
                </a:solidFill>
                <a:latin typeface="Consolas" pitchFamily="34" charset="0"/>
                <a:ea typeface="Consolas" pitchFamily="34" charset="-122"/>
                <a:cs typeface="Consolas" pitchFamily="34" charset="-120"/>
              </a:rPr>
              <a:t>/images.php?file=%2Fetc%2Fpasswd   -&gt; direct try, bounces to view.php</a:t>
            </a:r>
            <a:endParaRPr lang="en-US" sz="1200" dirty="0"/>
          </a:p>
          <a:p>
            <a:pPr algn="l" indent="0" marL="0">
              <a:lnSpc>
                <a:spcPct val="118000"/>
              </a:lnSpc>
              <a:buNone/>
            </a:pPr>
            <a:r>
              <a:rPr lang="en-US" sz="1200" b="1" dirty="0">
                <a:solidFill>
                  <a:srgbClr val="FFD166"/>
                </a:solidFill>
                <a:latin typeface="Consolas" pitchFamily="34" charset="0"/>
                <a:ea typeface="Consolas" pitchFamily="34" charset="-122"/>
                <a:cs typeface="Consolas" pitchFamily="34" charset="-120"/>
              </a:rPr>
              <a:t>/view.php?image=../etc/passwd ... ../../../../etc/passwd   200, 650B</a:t>
            </a:r>
            <a:endParaRPr lang="en-US" sz="1200" dirty="0"/>
          </a:p>
          <a:p>
            <a:pPr algn="l" indent="0" marL="0">
              <a:lnSpc>
                <a:spcPct val="118000"/>
              </a:lnSpc>
              <a:buNone/>
            </a:pPr>
            <a:r>
              <a:rPr lang="en-US" sz="1200" dirty="0">
                <a:solidFill>
                  <a:srgbClr val="BFE3DC"/>
                </a:solidFill>
                <a:latin typeface="Consolas" pitchFamily="34" charset="0"/>
                <a:ea typeface="Consolas" pitchFamily="34" charset="-122"/>
                <a:cs typeface="Consolas" pitchFamily="34" charset="-120"/>
              </a:rPr>
              <a:t>/view.php?image=../../../../etc/shadow   200, 202B  # blocked!</a:t>
            </a:r>
            <a:endParaRPr lang="en-US" sz="1200" dirty="0"/>
          </a:p>
          <a:p>
            <a:pPr algn="l" indent="0" marL="0">
              <a:lnSpc>
                <a:spcPct val="118000"/>
              </a:lnSpc>
              <a:buNone/>
            </a:pPr>
            <a:endParaRPr lang="en-US" sz="1200" dirty="0"/>
          </a:p>
          <a:p>
            <a:pPr algn="l" indent="0" marL="0">
              <a:lnSpc>
                <a:spcPct val="118000"/>
              </a:lnSpc>
              <a:buNone/>
            </a:pPr>
            <a:r>
              <a:rPr lang="en-US" sz="1200" dirty="0">
                <a:solidFill>
                  <a:srgbClr val="6C8A96"/>
                </a:solidFill>
                <a:latin typeface="Consolas" pitchFamily="34" charset="0"/>
                <a:ea typeface="Consolas" pitchFamily="34" charset="-122"/>
                <a:cs typeface="Consolas" pitchFamily="34" charset="-120"/>
              </a:rPr>
              <a:t># Q5: shadow DENIED - error.log:</a:t>
            </a:r>
            <a:endParaRPr lang="en-US" sz="1200" dirty="0"/>
          </a:p>
          <a:p>
            <a:pPr algn="l" indent="0" marL="0">
              <a:lnSpc>
                <a:spcPct val="118000"/>
              </a:lnSpc>
              <a:buNone/>
            </a:pPr>
            <a:r>
              <a:rPr lang="en-US" sz="1200" b="1" dirty="0">
                <a:solidFill>
                  <a:srgbClr val="FFD166"/>
                </a:solidFill>
                <a:latin typeface="Consolas" pitchFamily="34" charset="0"/>
                <a:ea typeface="Consolas" pitchFamily="34" charset="-122"/>
                <a:cs typeface="Consolas" pitchFamily="34" charset="-120"/>
              </a:rPr>
              <a:t>PHP Warning: file_get_contents(...etc/shadow): Permission denied</a:t>
            </a:r>
            <a:endParaRPr lang="en-US" sz="1200" dirty="0"/>
          </a:p>
          <a:p>
            <a:pPr algn="l" indent="0" marL="0">
              <a:lnSpc>
                <a:spcPct val="118000"/>
              </a:lnSpc>
              <a:buNone/>
            </a:pPr>
            <a:r>
              <a:rPr lang="en-US" sz="1200" dirty="0">
                <a:solidFill>
                  <a:srgbClr val="6C8A96"/>
                </a:solidFill>
                <a:latin typeface="Consolas" pitchFamily="34" charset="0"/>
                <a:ea typeface="Consolas" pitchFamily="34" charset="-122"/>
                <a:cs typeface="Consolas" pitchFamily="34" charset="-120"/>
              </a:rPr>
              <a:t># server runs as www-data: least privilege saved the hashes</a:t>
            </a:r>
            <a:endParaRPr lang="en-US" sz="1200" dirty="0"/>
          </a:p>
        </p:txBody>
      </p:sp>
      <p:sp>
        <p:nvSpPr>
          <p:cNvPr id="25" name="Slide Number Placeholder 0"/>
          <p:cNvSpPr>
            <a:spLocks noGrp="1"/>
          </p:cNvSpPr>
          <p:nvPr>
            <p:ph type="sldNum" sz="quarter" idx="4294967295"/>
          </p:nvPr>
        </p:nvSpPr>
        <p:spPr>
          <a:xfrm>
            <a:off x="1147572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078"/>
                </a:solidFill>
                <a:latin typeface="Segoe UI"/>
                <a:ea typeface="Segoe UI"/>
                <a:cs typeface="Segoe U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lIns="0" tIns="0" rIns="0" bIns="0" rtlCol="0" anchor="ctr"/>
          <a:lstStyle/>
          <a:p>
            <a:pPr indent="0" marL="0">
              <a:buNone/>
            </a:pPr>
            <a:r>
              <a:rPr lang="en-US" sz="1200" b="1" spc="300" kern="0" dirty="0">
                <a:solidFill>
                  <a:srgbClr val="1B6B7A"/>
                </a:solidFill>
                <a:latin typeface="Segoe UI" pitchFamily="34" charset="0"/>
                <a:ea typeface="Segoe UI" pitchFamily="34" charset="-122"/>
                <a:cs typeface="Segoe UI" pitchFamily="34" charset="-120"/>
              </a:rPr>
              <a:t>WORKED · CHALLENGE A (2 OF 3)</a:t>
            </a:r>
            <a:endParaRPr lang="en-US" sz="1200" dirty="0"/>
          </a:p>
        </p:txBody>
      </p:sp>
      <p:sp>
        <p:nvSpPr>
          <p:cNvPr id="3" name="Text 1"/>
          <p:cNvSpPr/>
          <p:nvPr/>
        </p:nvSpPr>
        <p:spPr>
          <a:xfrm>
            <a:off x="548640" y="658368"/>
            <a:ext cx="11091672" cy="777240"/>
          </a:xfrm>
          <a:prstGeom prst="rect">
            <a:avLst/>
          </a:prstGeom>
          <a:noFill/>
          <a:ln/>
        </p:spPr>
        <p:txBody>
          <a:bodyPr wrap="square" lIns="0" tIns="0" rIns="0" bIns="0" rtlCol="0" anchor="ctr"/>
          <a:lstStyle/>
          <a:p>
            <a:pPr indent="0" marL="0">
              <a:buNone/>
            </a:pPr>
            <a:r>
              <a:rPr lang="en-US" sz="3200" b="1" dirty="0">
                <a:solidFill>
                  <a:srgbClr val="16232B"/>
                </a:solidFill>
                <a:latin typeface="Segoe UI" pitchFamily="34" charset="0"/>
                <a:ea typeface="Segoe UI" pitchFamily="34" charset="-122"/>
                <a:cs typeface="Segoe UI" pitchFamily="34" charset="-120"/>
              </a:rPr>
              <a:t>RCE: the commands, the database, the note</a:t>
            </a:r>
            <a:endParaRPr lang="en-US" sz="3200" dirty="0"/>
          </a:p>
        </p:txBody>
      </p:sp>
      <p:sp>
        <p:nvSpPr>
          <p:cNvPr id="4" name="Shape 2"/>
          <p:cNvSpPr/>
          <p:nvPr/>
        </p:nvSpPr>
        <p:spPr>
          <a:xfrm>
            <a:off x="548640" y="1783080"/>
            <a:ext cx="7863840" cy="4480560"/>
          </a:xfrm>
          <a:prstGeom prst="roundRect">
            <a:avLst>
              <a:gd name="adj" fmla="val 1837"/>
            </a:avLst>
          </a:prstGeom>
          <a:solidFill>
            <a:srgbClr val="0B1B26"/>
          </a:solidFill>
          <a:ln w="12700">
            <a:solidFill>
              <a:srgbClr val="1E3646"/>
            </a:solidFill>
            <a:prstDash val="solid"/>
          </a:ln>
          <a:effectLst>
            <a:outerShdw sx="100000" sy="100000" kx="0" ky="0" algn="bl" rotWithShape="0" blurRad="88900" dist="25400" dir="2700000">
              <a:srgbClr val="0F2233">
                <a:alpha val="18000"/>
              </a:srgbClr>
            </a:outerShdw>
          </a:effectLst>
        </p:spPr>
      </p:sp>
      <p:sp>
        <p:nvSpPr>
          <p:cNvPr id="5" name="Shape 3"/>
          <p:cNvSpPr/>
          <p:nvPr/>
        </p:nvSpPr>
        <p:spPr>
          <a:xfrm>
            <a:off x="731520" y="1929384"/>
            <a:ext cx="100584" cy="100584"/>
          </a:xfrm>
          <a:prstGeom prst="ellipse">
            <a:avLst/>
          </a:prstGeom>
          <a:solidFill>
            <a:srgbClr val="E8686A"/>
          </a:solidFill>
          <a:ln/>
        </p:spPr>
      </p:sp>
      <p:sp>
        <p:nvSpPr>
          <p:cNvPr id="6" name="Shape 4"/>
          <p:cNvSpPr/>
          <p:nvPr/>
        </p:nvSpPr>
        <p:spPr>
          <a:xfrm>
            <a:off x="950976" y="1929384"/>
            <a:ext cx="100584" cy="100584"/>
          </a:xfrm>
          <a:prstGeom prst="ellipse">
            <a:avLst/>
          </a:prstGeom>
          <a:solidFill>
            <a:srgbClr val="E9C46A"/>
          </a:solidFill>
          <a:ln/>
        </p:spPr>
      </p:sp>
      <p:sp>
        <p:nvSpPr>
          <p:cNvPr id="7" name="Shape 5"/>
          <p:cNvSpPr/>
          <p:nvPr/>
        </p:nvSpPr>
        <p:spPr>
          <a:xfrm>
            <a:off x="1170432" y="1929384"/>
            <a:ext cx="100584" cy="100584"/>
          </a:xfrm>
          <a:prstGeom prst="ellipse">
            <a:avLst/>
          </a:prstGeom>
          <a:solidFill>
            <a:srgbClr val="57B894"/>
          </a:solidFill>
          <a:ln/>
        </p:spPr>
      </p:sp>
      <p:sp>
        <p:nvSpPr>
          <p:cNvPr id="8" name="Text 6"/>
          <p:cNvSpPr/>
          <p:nvPr/>
        </p:nvSpPr>
        <p:spPr>
          <a:xfrm>
            <a:off x="1463040" y="1874520"/>
            <a:ext cx="6766560" cy="237744"/>
          </a:xfrm>
          <a:prstGeom prst="rect">
            <a:avLst/>
          </a:prstGeom>
          <a:noFill/>
          <a:ln/>
        </p:spPr>
        <p:txBody>
          <a:bodyPr wrap="square" lIns="0" tIns="0" rIns="0" bIns="0" rtlCol="0" anchor="ctr"/>
          <a:lstStyle/>
          <a:p>
            <a:pPr algn="r" indent="0" marL="0">
              <a:buNone/>
            </a:pPr>
            <a:r>
              <a:rPr lang="en-US" sz="1000" dirty="0">
                <a:solidFill>
                  <a:srgbClr val="6C8A96"/>
                </a:solidFill>
                <a:latin typeface="Consolas" pitchFamily="34" charset="0"/>
                <a:ea typeface="Consolas" pitchFamily="34" charset="-122"/>
                <a:cs typeface="Consolas" pitchFamily="34" charset="-120"/>
              </a:rPr>
              <a:t>root@dfir:/var/log/apache2#</a:t>
            </a:r>
            <a:endParaRPr lang="en-US" sz="1000" dirty="0"/>
          </a:p>
        </p:txBody>
      </p:sp>
      <p:sp>
        <p:nvSpPr>
          <p:cNvPr id="9" name="Text 7"/>
          <p:cNvSpPr/>
          <p:nvPr/>
        </p:nvSpPr>
        <p:spPr>
          <a:xfrm>
            <a:off x="804672" y="2167128"/>
            <a:ext cx="7360920" cy="3931920"/>
          </a:xfrm>
          <a:prstGeom prst="rect">
            <a:avLst/>
          </a:prstGeom>
          <a:noFill/>
          <a:ln/>
        </p:spPr>
        <p:txBody>
          <a:bodyPr wrap="square" lIns="0" tIns="0" rIns="0" bIns="0" rtlCol="0" anchor="t"/>
          <a:lstStyle/>
          <a:p>
            <a:pPr algn="l" indent="0" marL="0">
              <a:lnSpc>
                <a:spcPct val="118000"/>
              </a:lnSpc>
              <a:buNone/>
            </a:pPr>
            <a:r>
              <a:rPr lang="en-US" sz="1150" dirty="0">
                <a:solidFill>
                  <a:srgbClr val="6C8A96"/>
                </a:solidFill>
                <a:latin typeface="Consolas" pitchFamily="34" charset="0"/>
                <a:ea typeface="Consolas" pitchFamily="34" charset="-122"/>
                <a:cs typeface="Consolas" pitchFamily="34" charset="-120"/>
              </a:rPr>
              <a:t># C-sections of four POSTs to /command.php:</a:t>
            </a:r>
            <a:endParaRPr lang="en-US" sz="1150" dirty="0"/>
          </a:p>
          <a:p>
            <a:pPr algn="l" indent="0" marL="0">
              <a:lnSpc>
                <a:spcPct val="118000"/>
              </a:lnSpc>
              <a:buNone/>
            </a:pPr>
            <a:r>
              <a:rPr lang="en-US" sz="1150" dirty="0">
                <a:solidFill>
                  <a:srgbClr val="BFE3DC"/>
                </a:solidFill>
                <a:latin typeface="Consolas" pitchFamily="34" charset="0"/>
                <a:ea typeface="Consolas" pitchFamily="34" charset="-122"/>
                <a:cs typeface="Consolas" pitchFamily="34" charset="-120"/>
              </a:rPr>
              <a:t>cmd=whoami            -&gt; www-data</a:t>
            </a:r>
            <a:endParaRPr lang="en-US" sz="1150" dirty="0"/>
          </a:p>
          <a:p>
            <a:pPr algn="l" indent="0" marL="0">
              <a:lnSpc>
                <a:spcPct val="118000"/>
              </a:lnSpc>
              <a:buNone/>
            </a:pPr>
            <a:r>
              <a:rPr lang="en-US" sz="1150" b="1" dirty="0">
                <a:solidFill>
                  <a:srgbClr val="FFD166"/>
                </a:solidFill>
                <a:latin typeface="Consolas" pitchFamily="34" charset="0"/>
                <a:ea typeface="Consolas" pitchFamily="34" charset="-122"/>
                <a:cs typeface="Consolas" pitchFamily="34" charset="-120"/>
              </a:rPr>
              <a:t>cmd=ls+-la+/          -&gt; database.sql, important_note.txt!</a:t>
            </a:r>
            <a:endParaRPr lang="en-US" sz="1150" dirty="0"/>
          </a:p>
          <a:p>
            <a:pPr algn="l" indent="0" marL="0">
              <a:lnSpc>
                <a:spcPct val="118000"/>
              </a:lnSpc>
              <a:buNone/>
            </a:pPr>
            <a:r>
              <a:rPr lang="en-US" sz="1150" dirty="0">
                <a:solidFill>
                  <a:srgbClr val="37DCF2"/>
                </a:solidFill>
                <a:latin typeface="Consolas" pitchFamily="34" charset="0"/>
                <a:ea typeface="Consolas" pitchFamily="34" charset="-122"/>
                <a:cs typeface="Consolas" pitchFamily="34" charset="-120"/>
              </a:rPr>
              <a:t>cmd=cat+%2Fdatabase.sql</a:t>
            </a:r>
            <a:endParaRPr lang="en-US" sz="1150" dirty="0"/>
          </a:p>
          <a:p>
            <a:pPr algn="l" indent="0" marL="0">
              <a:lnSpc>
                <a:spcPct val="118000"/>
              </a:lnSpc>
              <a:buNone/>
            </a:pPr>
            <a:r>
              <a:rPr lang="en-US" sz="1150" b="1" dirty="0">
                <a:solidFill>
                  <a:srgbClr val="FFD166"/>
                </a:solidFill>
                <a:latin typeface="Consolas" pitchFamily="34" charset="0"/>
                <a:ea typeface="Consolas" pitchFamily="34" charset="-122"/>
                <a:cs typeface="Consolas" pitchFamily="34" charset="-120"/>
              </a:rPr>
              <a:t>  -&gt; 5 users (emails + passwords), DB user + $up3rs3cr3tp4ssw0rd</a:t>
            </a:r>
            <a:endParaRPr lang="en-US" sz="1150" dirty="0"/>
          </a:p>
          <a:p>
            <a:pPr algn="l" indent="0" marL="0">
              <a:lnSpc>
                <a:spcPct val="118000"/>
              </a:lnSpc>
              <a:buNone/>
            </a:pPr>
            <a:r>
              <a:rPr lang="en-US" sz="1150" dirty="0">
                <a:solidFill>
                  <a:srgbClr val="37DCF2"/>
                </a:solidFill>
                <a:latin typeface="Consolas" pitchFamily="34" charset="0"/>
                <a:ea typeface="Consolas" pitchFamily="34" charset="-122"/>
                <a:cs typeface="Consolas" pitchFamily="34" charset="-120"/>
              </a:rPr>
              <a:t>cmd=cat+%2Fimportant_note.txt</a:t>
            </a:r>
            <a:endParaRPr lang="en-US" sz="1150" dirty="0"/>
          </a:p>
          <a:p>
            <a:pPr algn="l" indent="0" marL="0">
              <a:lnSpc>
                <a:spcPct val="118000"/>
              </a:lnSpc>
              <a:buNone/>
            </a:pPr>
            <a:r>
              <a:rPr lang="en-US" sz="1150" dirty="0">
                <a:solidFill>
                  <a:srgbClr val="BFE3DC"/>
                </a:solidFill>
                <a:latin typeface="Consolas" pitchFamily="34" charset="0"/>
                <a:ea typeface="Consolas" pitchFamily="34" charset="-122"/>
                <a:cs typeface="Consolas" pitchFamily="34" charset="-120"/>
              </a:rPr>
              <a:t>  "we don't want the world to know that our password is</a:t>
            </a:r>
            <a:endParaRPr lang="en-US" sz="1150" dirty="0"/>
          </a:p>
          <a:p>
            <a:pPr algn="l" indent="0" marL="0">
              <a:lnSpc>
                <a:spcPct val="118000"/>
              </a:lnSpc>
              <a:buNone/>
            </a:pPr>
            <a:r>
              <a:rPr lang="en-US" sz="1150" b="1" dirty="0">
                <a:solidFill>
                  <a:srgbClr val="FFD166"/>
                </a:solidFill>
                <a:latin typeface="Consolas" pitchFamily="34" charset="0"/>
                <a:ea typeface="Consolas" pitchFamily="34" charset="-122"/>
                <a:cs typeface="Consolas" pitchFamily="34" charset="-120"/>
              </a:rPr>
              <a:t>   'sup3r_s3cr3t_4nd_1mp0rt4nt_p4ssw0rd'"   # Q7 secret</a:t>
            </a:r>
            <a:endParaRPr lang="en-US" sz="1150" dirty="0"/>
          </a:p>
          <a:p>
            <a:pPr algn="l" indent="0" marL="0">
              <a:lnSpc>
                <a:spcPct val="118000"/>
              </a:lnSpc>
              <a:buNone/>
            </a:pPr>
            <a:r>
              <a:rPr lang="en-US" sz="1150" dirty="0">
                <a:solidFill>
                  <a:srgbClr val="6C8A96"/>
                </a:solidFill>
                <a:latin typeface="Consolas" pitchFamily="34" charset="0"/>
                <a:ea typeface="Consolas" pitchFamily="34" charset="-122"/>
                <a:cs typeface="Consolas" pitchFamily="34" charset="-120"/>
              </a:rPr>
              <a:t># Q6: 5 user records + system users + 2 secrets compromised</a:t>
            </a:r>
            <a:endParaRPr lang="en-US" sz="1150" dirty="0"/>
          </a:p>
        </p:txBody>
      </p:sp>
      <p:sp>
        <p:nvSpPr>
          <p:cNvPr id="10" name="Text 8"/>
          <p:cNvSpPr/>
          <p:nvPr/>
        </p:nvSpPr>
        <p:spPr>
          <a:xfrm>
            <a:off x="8549640" y="1783080"/>
            <a:ext cx="3090672" cy="365760"/>
          </a:xfrm>
          <a:prstGeom prst="rect">
            <a:avLst/>
          </a:prstGeom>
          <a:noFill/>
          <a:ln/>
        </p:spPr>
        <p:txBody>
          <a:bodyPr wrap="square" lIns="0" tIns="0" rIns="0" bIns="0" rtlCol="0" anchor="ctr"/>
          <a:lstStyle/>
          <a:p>
            <a:pPr indent="0" marL="0">
              <a:buNone/>
            </a:pPr>
            <a:r>
              <a:rPr lang="en-US" sz="1600" b="1" dirty="0">
                <a:solidFill>
                  <a:srgbClr val="134B56"/>
                </a:solidFill>
                <a:latin typeface="Segoe UI" pitchFamily="34" charset="0"/>
                <a:ea typeface="Segoe UI" pitchFamily="34" charset="-122"/>
                <a:cs typeface="Segoe UI" pitchFamily="34" charset="-120"/>
              </a:rPr>
              <a:t>The lesson</a:t>
            </a:r>
            <a:endParaRPr lang="en-US" sz="1600" dirty="0"/>
          </a:p>
        </p:txBody>
      </p:sp>
      <p:sp>
        <p:nvSpPr>
          <p:cNvPr id="11" name="Text 9"/>
          <p:cNvSpPr/>
          <p:nvPr/>
        </p:nvSpPr>
        <p:spPr>
          <a:xfrm>
            <a:off x="8549640" y="2221992"/>
            <a:ext cx="3090672" cy="3931920"/>
          </a:xfrm>
          <a:prstGeom prst="rect">
            <a:avLst/>
          </a:prstGeom>
          <a:noFill/>
          <a:ln/>
        </p:spPr>
        <p:txBody>
          <a:bodyPr wrap="square" lIns="0" tIns="0" rIns="0" bIns="0" rtlCol="0" anchor="t"/>
          <a:lstStyle/>
          <a:p>
            <a:pPr algn="l" marL="152400" indent="-152400">
              <a:lnSpc>
                <a:spcPct val="112000"/>
              </a:lnSpc>
              <a:spcAft>
                <a:spcPts val="800"/>
              </a:spcAft>
              <a:buSzPct val="100000"/>
              <a:buChar char="▸"/>
            </a:pPr>
            <a:r>
              <a:rPr lang="en-US" sz="1200" dirty="0">
                <a:solidFill>
                  <a:srgbClr val="16232B"/>
                </a:solidFill>
                <a:latin typeface="Segoe UI" pitchFamily="34" charset="0"/>
                <a:ea typeface="Segoe UI" pitchFamily="34" charset="-122"/>
                <a:cs typeface="Segoe UI" pitchFamily="34" charset="-120"/>
              </a:rPr>
              <a:t>ls -la / found the loot in the first place</a:t>
            </a:r>
            <a:endParaRPr lang="en-US" sz="1200" dirty="0"/>
          </a:p>
          <a:p>
            <a:pPr algn="l" marL="152400" indent="-152400">
              <a:lnSpc>
                <a:spcPct val="112000"/>
              </a:lnSpc>
              <a:spcAft>
                <a:spcPts val="800"/>
              </a:spcAft>
              <a:buSzPct val="100000"/>
              <a:buChar char="▸"/>
            </a:pPr>
            <a:r>
              <a:rPr lang="en-US" sz="1200" dirty="0">
                <a:solidFill>
                  <a:srgbClr val="16232B"/>
                </a:solidFill>
                <a:latin typeface="Segoe UI" pitchFamily="34" charset="0"/>
                <a:ea typeface="Segoe UI" pitchFamily="34" charset="-122"/>
                <a:cs typeface="Segoe UI" pitchFamily="34" charset="-120"/>
              </a:rPr>
              <a:t>the note was also reachable via traversal</a:t>
            </a:r>
            <a:endParaRPr lang="en-US" sz="1200" dirty="0"/>
          </a:p>
          <a:p>
            <a:pPr algn="l" marL="152400" indent="-152400">
              <a:lnSpc>
                <a:spcPct val="112000"/>
              </a:lnSpc>
              <a:spcAft>
                <a:spcPts val="800"/>
              </a:spcAft>
              <a:buSzPct val="100000"/>
              <a:buChar char="▸"/>
            </a:pPr>
            <a:r>
              <a:rPr lang="en-US" sz="1200" dirty="0">
                <a:solidFill>
                  <a:srgbClr val="16232B"/>
                </a:solidFill>
                <a:latin typeface="Segoe UI" pitchFamily="34" charset="0"/>
                <a:ea typeface="Segoe UI" pitchFamily="34" charset="-122"/>
                <a:cs typeface="Segoe UI" pitchFamily="34" charset="-120"/>
              </a:rPr>
              <a:t>WAF saw everything - and blocked nothing</a:t>
            </a:r>
            <a:endParaRPr lang="en-US" sz="1200" dirty="0"/>
          </a:p>
        </p:txBody>
      </p:sp>
      <p:sp>
        <p:nvSpPr>
          <p:cNvPr id="25" name="Slide Number Placeholder 0"/>
          <p:cNvSpPr>
            <a:spLocks noGrp="1"/>
          </p:cNvSpPr>
          <p:nvPr>
            <p:ph type="sldNum" sz="quarter" idx="4294967295"/>
          </p:nvPr>
        </p:nvSpPr>
        <p:spPr>
          <a:xfrm>
            <a:off x="1147572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078"/>
                </a:solidFill>
                <a:latin typeface="Segoe UI"/>
                <a:ea typeface="Segoe UI"/>
                <a:cs typeface="Segoe U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lIns="0" tIns="0" rIns="0" bIns="0" rtlCol="0" anchor="ctr"/>
          <a:lstStyle/>
          <a:p>
            <a:pPr indent="0" marL="0">
              <a:buNone/>
            </a:pPr>
            <a:r>
              <a:rPr lang="en-US" sz="1200" b="1" spc="300" kern="0" dirty="0">
                <a:solidFill>
                  <a:srgbClr val="1B6B7A"/>
                </a:solidFill>
                <a:latin typeface="Segoe UI" pitchFamily="34" charset="0"/>
                <a:ea typeface="Segoe UI" pitchFamily="34" charset="-122"/>
                <a:cs typeface="Segoe UI" pitchFamily="34" charset="-120"/>
              </a:rPr>
              <a:t>WORKED · CHALLENGE A (3 OF 3)</a:t>
            </a:r>
            <a:endParaRPr lang="en-US" sz="1200" dirty="0"/>
          </a:p>
        </p:txBody>
      </p:sp>
      <p:sp>
        <p:nvSpPr>
          <p:cNvPr id="3" name="Text 1"/>
          <p:cNvSpPr/>
          <p:nvPr/>
        </p:nvSpPr>
        <p:spPr>
          <a:xfrm>
            <a:off x="548640" y="658368"/>
            <a:ext cx="11091672" cy="777240"/>
          </a:xfrm>
          <a:prstGeom prst="rect">
            <a:avLst/>
          </a:prstGeom>
          <a:noFill/>
          <a:ln/>
        </p:spPr>
        <p:txBody>
          <a:bodyPr wrap="square" lIns="0" tIns="0" rIns="0" bIns="0" rtlCol="0" anchor="ctr"/>
          <a:lstStyle/>
          <a:p>
            <a:pPr indent="0" marL="0">
              <a:buNone/>
            </a:pPr>
            <a:r>
              <a:rPr lang="en-US" sz="3200" b="1" dirty="0">
                <a:solidFill>
                  <a:srgbClr val="16232B"/>
                </a:solidFill>
                <a:latin typeface="Segoe UI" pitchFamily="34" charset="0"/>
                <a:ea typeface="Segoe UI" pitchFamily="34" charset="-122"/>
                <a:cs typeface="Segoe UI" pitchFamily="34" charset="-120"/>
              </a:rPr>
              <a:t>SQLi, sqlmap, and the taunt</a:t>
            </a:r>
            <a:endParaRPr lang="en-US" sz="3200" dirty="0"/>
          </a:p>
        </p:txBody>
      </p:sp>
      <p:sp>
        <p:nvSpPr>
          <p:cNvPr id="4" name="Shape 2"/>
          <p:cNvSpPr/>
          <p:nvPr/>
        </p:nvSpPr>
        <p:spPr>
          <a:xfrm>
            <a:off x="548640" y="1783080"/>
            <a:ext cx="7863840" cy="4480560"/>
          </a:xfrm>
          <a:prstGeom prst="roundRect">
            <a:avLst>
              <a:gd name="adj" fmla="val 1837"/>
            </a:avLst>
          </a:prstGeom>
          <a:solidFill>
            <a:srgbClr val="0B1B26"/>
          </a:solidFill>
          <a:ln w="12700">
            <a:solidFill>
              <a:srgbClr val="1E3646"/>
            </a:solidFill>
            <a:prstDash val="solid"/>
          </a:ln>
          <a:effectLst>
            <a:outerShdw sx="100000" sy="100000" kx="0" ky="0" algn="bl" rotWithShape="0" blurRad="88900" dist="25400" dir="2700000">
              <a:srgbClr val="0F2233">
                <a:alpha val="18000"/>
              </a:srgbClr>
            </a:outerShdw>
          </a:effectLst>
        </p:spPr>
      </p:sp>
      <p:sp>
        <p:nvSpPr>
          <p:cNvPr id="5" name="Shape 3"/>
          <p:cNvSpPr/>
          <p:nvPr/>
        </p:nvSpPr>
        <p:spPr>
          <a:xfrm>
            <a:off x="731520" y="1929384"/>
            <a:ext cx="100584" cy="100584"/>
          </a:xfrm>
          <a:prstGeom prst="ellipse">
            <a:avLst/>
          </a:prstGeom>
          <a:solidFill>
            <a:srgbClr val="E8686A"/>
          </a:solidFill>
          <a:ln/>
        </p:spPr>
      </p:sp>
      <p:sp>
        <p:nvSpPr>
          <p:cNvPr id="6" name="Shape 4"/>
          <p:cNvSpPr/>
          <p:nvPr/>
        </p:nvSpPr>
        <p:spPr>
          <a:xfrm>
            <a:off x="950976" y="1929384"/>
            <a:ext cx="100584" cy="100584"/>
          </a:xfrm>
          <a:prstGeom prst="ellipse">
            <a:avLst/>
          </a:prstGeom>
          <a:solidFill>
            <a:srgbClr val="E9C46A"/>
          </a:solidFill>
          <a:ln/>
        </p:spPr>
      </p:sp>
      <p:sp>
        <p:nvSpPr>
          <p:cNvPr id="7" name="Shape 5"/>
          <p:cNvSpPr/>
          <p:nvPr/>
        </p:nvSpPr>
        <p:spPr>
          <a:xfrm>
            <a:off x="1170432" y="1929384"/>
            <a:ext cx="100584" cy="100584"/>
          </a:xfrm>
          <a:prstGeom prst="ellipse">
            <a:avLst/>
          </a:prstGeom>
          <a:solidFill>
            <a:srgbClr val="57B894"/>
          </a:solidFill>
          <a:ln/>
        </p:spPr>
      </p:sp>
      <p:sp>
        <p:nvSpPr>
          <p:cNvPr id="8" name="Text 6"/>
          <p:cNvSpPr/>
          <p:nvPr/>
        </p:nvSpPr>
        <p:spPr>
          <a:xfrm>
            <a:off x="1463040" y="1874520"/>
            <a:ext cx="6766560" cy="237744"/>
          </a:xfrm>
          <a:prstGeom prst="rect">
            <a:avLst/>
          </a:prstGeom>
          <a:noFill/>
          <a:ln/>
        </p:spPr>
        <p:txBody>
          <a:bodyPr wrap="square" lIns="0" tIns="0" rIns="0" bIns="0" rtlCol="0" anchor="ctr"/>
          <a:lstStyle/>
          <a:p>
            <a:pPr algn="r" indent="0" marL="0">
              <a:buNone/>
            </a:pPr>
            <a:r>
              <a:rPr lang="en-US" sz="1000" dirty="0">
                <a:solidFill>
                  <a:srgbClr val="6C8A96"/>
                </a:solidFill>
                <a:latin typeface="Consolas" pitchFamily="34" charset="0"/>
                <a:ea typeface="Consolas" pitchFamily="34" charset="-122"/>
                <a:cs typeface="Consolas" pitchFamily="34" charset="-120"/>
              </a:rPr>
              <a:t>root@dfir:/var/log/apache2#</a:t>
            </a:r>
            <a:endParaRPr lang="en-US" sz="1000" dirty="0"/>
          </a:p>
        </p:txBody>
      </p:sp>
      <p:sp>
        <p:nvSpPr>
          <p:cNvPr id="9" name="Text 7"/>
          <p:cNvSpPr/>
          <p:nvPr/>
        </p:nvSpPr>
        <p:spPr>
          <a:xfrm>
            <a:off x="804672" y="2167128"/>
            <a:ext cx="7360920" cy="3931920"/>
          </a:xfrm>
          <a:prstGeom prst="rect">
            <a:avLst/>
          </a:prstGeom>
          <a:noFill/>
          <a:ln/>
        </p:spPr>
        <p:txBody>
          <a:bodyPr wrap="square" lIns="0" tIns="0" rIns="0" bIns="0" rtlCol="0" anchor="t"/>
          <a:lstStyle/>
          <a:p>
            <a:pPr algn="l" indent="0" marL="0">
              <a:lnSpc>
                <a:spcPct val="118000"/>
              </a:lnSpc>
              <a:buNone/>
            </a:pPr>
            <a:r>
              <a:rPr lang="en-US" sz="1150" dirty="0">
                <a:solidFill>
                  <a:srgbClr val="6C8A96"/>
                </a:solidFill>
                <a:latin typeface="Consolas" pitchFamily="34" charset="0"/>
                <a:ea typeface="Consolas" pitchFamily="34" charset="-122"/>
                <a:cs typeface="Consolas" pitchFamily="34" charset="-120"/>
              </a:rPr>
              <a:t># Q4: automated tool - the UA confesses:</a:t>
            </a:r>
            <a:endParaRPr lang="en-US" sz="1150" dirty="0"/>
          </a:p>
          <a:p>
            <a:pPr algn="l" indent="0" marL="0">
              <a:lnSpc>
                <a:spcPct val="118000"/>
              </a:lnSpc>
              <a:buNone/>
            </a:pPr>
            <a:r>
              <a:rPr lang="en-US" sz="1150" b="1" dirty="0">
                <a:solidFill>
                  <a:srgbClr val="FFD166"/>
                </a:solidFill>
                <a:latin typeface="Consolas" pitchFamily="34" charset="0"/>
                <a:ea typeface="Consolas" pitchFamily="34" charset="-122"/>
                <a:cs typeface="Consolas" pitchFamily="34" charset="-120"/>
              </a:rPr>
              <a:t>"sqlmap/1.6.11#stable (https://sqlmap.org)"  + random probes</a:t>
            </a:r>
            <a:endParaRPr lang="en-US" sz="1150" dirty="0"/>
          </a:p>
          <a:p>
            <a:pPr algn="l" indent="0" marL="0">
              <a:lnSpc>
                <a:spcPct val="118000"/>
              </a:lnSpc>
              <a:buNone/>
            </a:pPr>
            <a:r>
              <a:rPr lang="en-US" sz="1150" dirty="0">
                <a:solidFill>
                  <a:srgbClr val="BFE3DC"/>
                </a:solidFill>
                <a:latin typeface="Consolas" pitchFamily="34" charset="0"/>
                <a:ea typeface="Consolas" pitchFamily="34" charset="-122"/>
                <a:cs typeface="Consolas" pitchFamily="34" charset="-120"/>
              </a:rPr>
              <a:t>   search=HOvh / fMgn     # sqlmap fingerprinting</a:t>
            </a:r>
            <a:endParaRPr lang="en-US" sz="1150" dirty="0"/>
          </a:p>
          <a:p>
            <a:pPr algn="l" indent="0" marL="0">
              <a:lnSpc>
                <a:spcPct val="118000"/>
              </a:lnSpc>
              <a:buNone/>
            </a:pPr>
            <a:endParaRPr lang="en-US" sz="1150" dirty="0"/>
          </a:p>
          <a:p>
            <a:pPr algn="l" indent="0" marL="0">
              <a:lnSpc>
                <a:spcPct val="118000"/>
              </a:lnSpc>
              <a:buNone/>
            </a:pPr>
            <a:r>
              <a:rPr lang="en-US" sz="1150" dirty="0">
                <a:solidFill>
                  <a:srgbClr val="6C8A96"/>
                </a:solidFill>
                <a:latin typeface="Consolas" pitchFamily="34" charset="0"/>
                <a:ea typeface="Consolas" pitchFamily="34" charset="-122"/>
                <a:cs typeface="Consolas" pitchFamily="34" charset="-120"/>
              </a:rPr>
              <a:t># Q8: the message to the admin (a POST body):</a:t>
            </a:r>
            <a:endParaRPr lang="en-US" sz="1150" dirty="0"/>
          </a:p>
          <a:p>
            <a:pPr algn="l" indent="0" marL="0">
              <a:lnSpc>
                <a:spcPct val="118000"/>
              </a:lnSpc>
              <a:buNone/>
            </a:pPr>
            <a:r>
              <a:rPr lang="en-US" sz="1150" dirty="0">
                <a:solidFill>
                  <a:srgbClr val="BFE3DC"/>
                </a:solidFill>
                <a:latin typeface="Consolas" pitchFamily="34" charset="0"/>
                <a:ea typeface="Consolas" pitchFamily="34" charset="-122"/>
                <a:cs typeface="Consolas" pitchFamily="34" charset="-120"/>
              </a:rPr>
              <a:t>search=' union select 'Gentlemen, it is with great</a:t>
            </a:r>
            <a:endParaRPr lang="en-US" sz="1150" dirty="0"/>
          </a:p>
          <a:p>
            <a:pPr algn="l" indent="0" marL="0">
              <a:lnSpc>
                <a:spcPct val="118000"/>
              </a:lnSpc>
              <a:buNone/>
            </a:pPr>
            <a:r>
              <a:rPr lang="en-US" sz="1150" dirty="0">
                <a:solidFill>
                  <a:srgbClr val="BFE3DC"/>
                </a:solidFill>
                <a:latin typeface="Consolas" pitchFamily="34" charset="0"/>
                <a:ea typeface="Consolas" pitchFamily="34" charset="-122"/>
                <a:cs typeface="Consolas" pitchFamily="34" charset="-120"/>
              </a:rPr>
              <a:t>  pleasure I inform you that:', concat(char(90),</a:t>
            </a:r>
            <a:endParaRPr lang="en-US" sz="1150" dirty="0"/>
          </a:p>
          <a:p>
            <a:pPr algn="l" indent="0" marL="0">
              <a:lnSpc>
                <a:spcPct val="118000"/>
              </a:lnSpc>
              <a:buNone/>
            </a:pPr>
            <a:r>
              <a:rPr lang="en-US" sz="1150" dirty="0">
                <a:solidFill>
                  <a:srgbClr val="BFE3DC"/>
                </a:solidFill>
                <a:latin typeface="Consolas" pitchFamily="34" charset="0"/>
                <a:ea typeface="Consolas" pitchFamily="34" charset="-122"/>
                <a:cs typeface="Consolas" pitchFamily="34" charset="-120"/>
              </a:rPr>
              <a:t>  char(109), ...) , ':D' #</a:t>
            </a:r>
            <a:endParaRPr lang="en-US" sz="1150" dirty="0"/>
          </a:p>
          <a:p>
            <a:pPr algn="l" indent="0" marL="0">
              <a:lnSpc>
                <a:spcPct val="118000"/>
              </a:lnSpc>
              <a:buNone/>
            </a:pPr>
            <a:endParaRPr lang="en-US" sz="1150" dirty="0"/>
          </a:p>
          <a:p>
            <a:pPr algn="l" indent="0" marL="0">
              <a:lnSpc>
                <a:spcPct val="118000"/>
              </a:lnSpc>
              <a:buNone/>
            </a:pPr>
            <a:r>
              <a:rPr lang="en-US" sz="1150" dirty="0">
                <a:solidFill>
                  <a:srgbClr val="6C8A96"/>
                </a:solidFill>
                <a:latin typeface="Consolas" pitchFamily="34" charset="0"/>
                <a:ea typeface="Consolas" pitchFamily="34" charset="-122"/>
                <a:cs typeface="Consolas" pitchFamily="34" charset="-120"/>
              </a:rPr>
              <a:t># decode chain: unquote_plus -&gt; chr() join -&gt; base64:</a:t>
            </a:r>
            <a:endParaRPr lang="en-US" sz="1150" dirty="0"/>
          </a:p>
          <a:p>
            <a:pPr algn="l" indent="0" marL="0">
              <a:lnSpc>
                <a:spcPct val="118000"/>
              </a:lnSpc>
              <a:buNone/>
            </a:pPr>
            <a:r>
              <a:rPr lang="en-US" sz="1150" b="1" dirty="0">
                <a:solidFill>
                  <a:srgbClr val="FFD166"/>
                </a:solidFill>
                <a:latin typeface="Consolas" pitchFamily="34" charset="0"/>
                <a:ea typeface="Consolas" pitchFamily="34" charset="-122"/>
                <a:cs typeface="Consolas" pitchFamily="34" charset="-120"/>
              </a:rPr>
              <a:t>"Gentlemen..." + the base64 string + :D</a:t>
            </a:r>
            <a:endParaRPr lang="en-US" sz="1150" dirty="0"/>
          </a:p>
        </p:txBody>
      </p:sp>
      <p:sp>
        <p:nvSpPr>
          <p:cNvPr id="10" name="Shape 8"/>
          <p:cNvSpPr/>
          <p:nvPr/>
        </p:nvSpPr>
        <p:spPr>
          <a:xfrm>
            <a:off x="8549640" y="1783080"/>
            <a:ext cx="3090672" cy="2103120"/>
          </a:xfrm>
          <a:prstGeom prst="roundRect">
            <a:avLst>
              <a:gd name="adj" fmla="val 3913"/>
            </a:avLst>
          </a:prstGeom>
          <a:solidFill>
            <a:srgbClr val="134B56"/>
          </a:solidFill>
          <a:ln/>
          <a:effectLst>
            <a:outerShdw sx="100000" sy="100000" kx="0" ky="0" algn="bl" rotWithShape="0" blurRad="88900" dist="25400" dir="2700000">
              <a:srgbClr val="0F2233">
                <a:alpha val="18000"/>
              </a:srgbClr>
            </a:outerShdw>
          </a:effectLst>
        </p:spPr>
      </p:sp>
      <p:sp>
        <p:nvSpPr>
          <p:cNvPr id="11" name="Text 9"/>
          <p:cNvSpPr/>
          <p:nvPr/>
        </p:nvSpPr>
        <p:spPr>
          <a:xfrm>
            <a:off x="8778240" y="1965960"/>
            <a:ext cx="2651760" cy="640080"/>
          </a:xfrm>
          <a:prstGeom prst="rect">
            <a:avLst/>
          </a:prstGeom>
          <a:noFill/>
          <a:ln/>
        </p:spPr>
        <p:txBody>
          <a:bodyPr wrap="square" lIns="0" tIns="0" rIns="0" bIns="0" rtlCol="0" anchor="ctr"/>
          <a:lstStyle/>
          <a:p>
            <a:pPr indent="0" marL="0">
              <a:lnSpc>
                <a:spcPct val="110000"/>
              </a:lnSpc>
              <a:buNone/>
            </a:pPr>
            <a:r>
              <a:rPr lang="en-US" sz="1300" b="1" dirty="0">
                <a:solidFill>
                  <a:srgbClr val="FFFFFF"/>
                </a:solidFill>
                <a:latin typeface="Segoe UI" pitchFamily="34" charset="0"/>
                <a:ea typeface="Segoe UI" pitchFamily="34" charset="-122"/>
                <a:cs typeface="Segoe UI" pitchFamily="34" charset="-120"/>
              </a:rPr>
              <a:t>Upstream flag (original format):</a:t>
            </a:r>
            <a:endParaRPr lang="en-US" sz="1300" dirty="0"/>
          </a:p>
        </p:txBody>
      </p:sp>
      <p:sp>
        <p:nvSpPr>
          <p:cNvPr id="12" name="Text 10"/>
          <p:cNvSpPr/>
          <p:nvPr/>
        </p:nvSpPr>
        <p:spPr>
          <a:xfrm>
            <a:off x="8778240" y="2651760"/>
            <a:ext cx="2651760" cy="1005840"/>
          </a:xfrm>
          <a:prstGeom prst="rect">
            <a:avLst/>
          </a:prstGeom>
          <a:noFill/>
          <a:ln/>
        </p:spPr>
        <p:txBody>
          <a:bodyPr wrap="square" lIns="0" tIns="0" rIns="0" bIns="0" rtlCol="0" anchor="ctr"/>
          <a:lstStyle/>
          <a:p>
            <a:pPr indent="0" marL="0">
              <a:lnSpc>
                <a:spcPct val="115000"/>
              </a:lnSpc>
              <a:buNone/>
            </a:pPr>
            <a:r>
              <a:rPr lang="en-US" sz="1100" b="1" dirty="0">
                <a:solidFill>
                  <a:srgbClr val="FFD166"/>
                </a:solidFill>
                <a:latin typeface="Consolas" pitchFamily="34" charset="0"/>
                <a:ea typeface="Consolas" pitchFamily="34" charset="-122"/>
                <a:cs typeface="Consolas" pitchFamily="34" charset="-120"/>
              </a:rPr>
              <a:t>flag{h1pp1ty_h0pp1ty_y0ur_w3bs1t3_1s_n0w_my_pr0p3rty!}</a:t>
            </a:r>
            <a:endParaRPr lang="en-US" sz="1100" dirty="0"/>
          </a:p>
        </p:txBody>
      </p:sp>
      <p:sp>
        <p:nvSpPr>
          <p:cNvPr id="13" name="Text 11"/>
          <p:cNvSpPr/>
          <p:nvPr/>
        </p:nvSpPr>
        <p:spPr>
          <a:xfrm>
            <a:off x="8549640" y="4160520"/>
            <a:ext cx="3090672" cy="365760"/>
          </a:xfrm>
          <a:prstGeom prst="rect">
            <a:avLst/>
          </a:prstGeom>
          <a:noFill/>
          <a:ln/>
        </p:spPr>
        <p:txBody>
          <a:bodyPr wrap="square" lIns="0" tIns="0" rIns="0" bIns="0" rtlCol="0" anchor="ctr"/>
          <a:lstStyle/>
          <a:p>
            <a:pPr indent="0" marL="0">
              <a:buNone/>
            </a:pPr>
            <a:r>
              <a:rPr lang="en-US" sz="1600" b="1" dirty="0">
                <a:solidFill>
                  <a:srgbClr val="134B56"/>
                </a:solidFill>
                <a:latin typeface="Segoe UI" pitchFamily="34" charset="0"/>
                <a:ea typeface="Segoe UI" pitchFamily="34" charset="-122"/>
                <a:cs typeface="Segoe UI" pitchFamily="34" charset="-120"/>
              </a:rPr>
              <a:t>The chain</a:t>
            </a:r>
            <a:endParaRPr lang="en-US" sz="1600" dirty="0"/>
          </a:p>
        </p:txBody>
      </p:sp>
      <p:sp>
        <p:nvSpPr>
          <p:cNvPr id="14" name="Text 12"/>
          <p:cNvSpPr/>
          <p:nvPr/>
        </p:nvSpPr>
        <p:spPr>
          <a:xfrm>
            <a:off x="8549640" y="4599432"/>
            <a:ext cx="3090672" cy="1737360"/>
          </a:xfrm>
          <a:prstGeom prst="rect">
            <a:avLst/>
          </a:prstGeom>
          <a:noFill/>
          <a:ln/>
        </p:spPr>
        <p:txBody>
          <a:bodyPr wrap="square" lIns="0" tIns="0" rIns="0" bIns="0" rtlCol="0" anchor="t"/>
          <a:lstStyle/>
          <a:p>
            <a:pPr algn="l" marL="152400" indent="-152400">
              <a:lnSpc>
                <a:spcPct val="112000"/>
              </a:lnSpc>
              <a:spcAft>
                <a:spcPts val="800"/>
              </a:spcAft>
              <a:buSzPct val="100000"/>
              <a:buChar char="▸"/>
            </a:pPr>
            <a:r>
              <a:rPr lang="en-US" sz="1150" dirty="0">
                <a:solidFill>
                  <a:srgbClr val="16232B"/>
                </a:solidFill>
                <a:latin typeface="Segoe UI" pitchFamily="34" charset="0"/>
                <a:ea typeface="Segoe UI" pitchFamily="34" charset="-122"/>
                <a:cs typeface="Segoe UI" pitchFamily="34" charset="-120"/>
              </a:rPr>
              <a:t>URL decode the body</a:t>
            </a:r>
            <a:endParaRPr lang="en-US" sz="1150" dirty="0"/>
          </a:p>
          <a:p>
            <a:pPr algn="l" marL="152400" indent="-152400">
              <a:lnSpc>
                <a:spcPct val="112000"/>
              </a:lnSpc>
              <a:spcAft>
                <a:spcPts val="800"/>
              </a:spcAft>
              <a:buSzPct val="100000"/>
              <a:buChar char="▸"/>
            </a:pPr>
            <a:r>
              <a:rPr lang="en-US" sz="1150" dirty="0">
                <a:solidFill>
                  <a:srgbClr val="16232B"/>
                </a:solidFill>
                <a:latin typeface="Segoe UI" pitchFamily="34" charset="0"/>
                <a:ea typeface="Segoe UI" pitchFamily="34" charset="-122"/>
                <a:cs typeface="Segoe UI" pitchFamily="34" charset="-120"/>
              </a:rPr>
              <a:t>chr() codes build base64</a:t>
            </a:r>
            <a:endParaRPr lang="en-US" sz="1150" dirty="0"/>
          </a:p>
          <a:p>
            <a:pPr algn="l" marL="152400" indent="-152400">
              <a:lnSpc>
                <a:spcPct val="112000"/>
              </a:lnSpc>
              <a:spcAft>
                <a:spcPts val="800"/>
              </a:spcAft>
              <a:buSzPct val="100000"/>
              <a:buChar char="▸"/>
            </a:pPr>
            <a:r>
              <a:rPr lang="en-US" sz="1150" dirty="0">
                <a:solidFill>
                  <a:srgbClr val="16232B"/>
                </a:solidFill>
                <a:latin typeface="Segoe UI" pitchFamily="34" charset="0"/>
                <a:ea typeface="Segoe UI" pitchFamily="34" charset="-122"/>
                <a:cs typeface="Segoe UI" pitchFamily="34" charset="-120"/>
              </a:rPr>
              <a:t>base64 -d reveals the flag</a:t>
            </a:r>
            <a:endParaRPr lang="en-US" sz="1150" dirty="0"/>
          </a:p>
        </p:txBody>
      </p:sp>
      <p:sp>
        <p:nvSpPr>
          <p:cNvPr id="25" name="Slide Number Placeholder 0"/>
          <p:cNvSpPr>
            <a:spLocks noGrp="1"/>
          </p:cNvSpPr>
          <p:nvPr>
            <p:ph type="sldNum" sz="quarter" idx="4294967295"/>
          </p:nvPr>
        </p:nvSpPr>
        <p:spPr>
          <a:xfrm>
            <a:off x="1147572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078"/>
                </a:solidFill>
                <a:latin typeface="Segoe UI"/>
                <a:ea typeface="Segoe UI"/>
                <a:cs typeface="Segoe U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lIns="0" tIns="0" rIns="0" bIns="0" rtlCol="0" anchor="ctr"/>
          <a:lstStyle/>
          <a:p>
            <a:pPr indent="0" marL="0">
              <a:buNone/>
            </a:pPr>
            <a:r>
              <a:rPr lang="en-US" sz="1200" b="1" spc="300" kern="0" dirty="0">
                <a:solidFill>
                  <a:srgbClr val="1B6B7A"/>
                </a:solidFill>
                <a:latin typeface="Segoe UI" pitchFamily="34" charset="0"/>
                <a:ea typeface="Segoe UI" pitchFamily="34" charset="-122"/>
                <a:cs typeface="Segoe UI" pitchFamily="34" charset="-120"/>
              </a:rPr>
              <a:t>REPORTING</a:t>
            </a:r>
            <a:endParaRPr lang="en-US" sz="1200" dirty="0"/>
          </a:p>
        </p:txBody>
      </p:sp>
      <p:sp>
        <p:nvSpPr>
          <p:cNvPr id="3" name="Text 1"/>
          <p:cNvSpPr/>
          <p:nvPr/>
        </p:nvSpPr>
        <p:spPr>
          <a:xfrm>
            <a:off x="548640" y="658368"/>
            <a:ext cx="11091672" cy="777240"/>
          </a:xfrm>
          <a:prstGeom prst="rect">
            <a:avLst/>
          </a:prstGeom>
          <a:noFill/>
          <a:ln/>
        </p:spPr>
        <p:txBody>
          <a:bodyPr wrap="square" lIns="0" tIns="0" rIns="0" bIns="0" rtlCol="0" anchor="ctr"/>
          <a:lstStyle/>
          <a:p>
            <a:pPr indent="0" marL="0">
              <a:buNone/>
            </a:pPr>
            <a:r>
              <a:rPr lang="en-US" sz="3200" b="1" dirty="0">
                <a:solidFill>
                  <a:srgbClr val="16232B"/>
                </a:solidFill>
                <a:latin typeface="Segoe UI" pitchFamily="34" charset="0"/>
                <a:ea typeface="Segoe UI" pitchFamily="34" charset="-122"/>
                <a:cs typeface="Segoe UI" pitchFamily="34" charset="-120"/>
              </a:rPr>
              <a:t>Indicators of attack vs compromise (Q9-Q10)</a:t>
            </a:r>
            <a:endParaRPr lang="en-US" sz="3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91672" cy="914400"/>
        </p:xfrm>
        <a:graphic>
          <a:graphicData uri="http://schemas.openxmlformats.org/drawingml/2006/table">
            <a:tbl>
              <a:tblPr/>
              <a:tblGrid>
                <a:gridCol w="2651760"/>
                <a:gridCol w="8439912"/>
              </a:tblGrid>
              <a:tr h="457200">
                <a:tc>
                  <a:txBody>
                    <a:bodyPr/>
                    <a:lstStyle/>
                    <a:p>
                      <a:pPr indent="0" marL="0">
                        <a:buNone/>
                      </a:pPr>
                      <a:r>
                        <a:rPr lang="en-US" sz="1200" b="1" dirty="0">
                          <a:solidFill>
                            <a:srgbClr val="FFFFFF"/>
                          </a:solidFill>
                          <a:latin typeface="Segoe UI" pitchFamily="34" charset="0"/>
                          <a:ea typeface="Segoe UI" pitchFamily="34" charset="-122"/>
                          <a:cs typeface="Segoe UI" pitchFamily="34" charset="-120"/>
                        </a:rPr>
                        <a:t>Category</a:t>
                      </a:r>
                      <a:endParaRPr lang="en-US" sz="1200" dirty="0">
                        <a:latin typeface="Segoe UI" charset="0"/>
                        <a:ea typeface="Segoe UI" charset="0"/>
                        <a:cs typeface="Segoe UI"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1B6B7A"/>
                    </a:solidFill>
                  </a:tcPr>
                </a:tc>
                <a:tc>
                  <a:txBody>
                    <a:bodyPr/>
                    <a:lstStyle/>
                    <a:p>
                      <a:pPr indent="0" marL="0">
                        <a:buNone/>
                      </a:pPr>
                      <a:r>
                        <a:rPr lang="en-US" sz="1200" b="1" dirty="0">
                          <a:solidFill>
                            <a:srgbClr val="FFFFFF"/>
                          </a:solidFill>
                          <a:latin typeface="Segoe UI" pitchFamily="34" charset="0"/>
                          <a:ea typeface="Segoe UI" pitchFamily="34" charset="-122"/>
                          <a:cs typeface="Segoe UI" pitchFamily="34" charset="-120"/>
                        </a:rPr>
                        <a:t>Indicator from this case</a:t>
                      </a:r>
                      <a:endParaRPr lang="en-US" sz="1200" dirty="0">
                        <a:latin typeface="Segoe UI" charset="0"/>
                        <a:ea typeface="Segoe UI" charset="0"/>
                        <a:cs typeface="Segoe UI"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1B6B7A"/>
                    </a:solidFill>
                  </a:tcPr>
                </a:tc>
              </a:tr>
              <a:tr h="457200">
                <a:tc>
                  <a:txBody>
                    <a:bodyPr/>
                    <a:lstStyle/>
                    <a:p>
                      <a:pPr indent="0" marL="0">
                        <a:buNone/>
                      </a:pPr>
                      <a:r>
                        <a:rPr lang="en-US" sz="1200" b="1" dirty="0">
                          <a:solidFill>
                            <a:srgbClr val="134B56"/>
                          </a:solidFill>
                          <a:latin typeface="Segoe UI" pitchFamily="34" charset="0"/>
                          <a:ea typeface="Segoe UI" pitchFamily="34" charset="-122"/>
                          <a:cs typeface="Segoe UI" pitchFamily="34" charset="-120"/>
                        </a:rPr>
                        <a:t>Atomic IOC</a:t>
                      </a:r>
                      <a:endParaRPr lang="en-US" sz="1200" dirty="0">
                        <a:latin typeface="Segoe UI" charset="0"/>
                        <a:ea typeface="Segoe UI" charset="0"/>
                        <a:cs typeface="Segoe UI"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200" dirty="0">
                          <a:solidFill>
                            <a:srgbClr val="5B7078"/>
                          </a:solidFill>
                          <a:latin typeface="Segoe UI" pitchFamily="34" charset="0"/>
                          <a:ea typeface="Segoe UI" pitchFamily="34" charset="-122"/>
                          <a:cs typeface="Segoe UI" pitchFamily="34" charset="-120"/>
                        </a:rPr>
                        <a:t>source IP 192.168.0.106; UA 'sqlmap/1.6.11#stable'</a:t>
                      </a:r>
                      <a:endParaRPr lang="en-US" sz="1200" dirty="0">
                        <a:latin typeface="Segoe UI" charset="0"/>
                        <a:ea typeface="Segoe UI" charset="0"/>
                        <a:cs typeface="Segoe UI"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134B56"/>
                          </a:solidFill>
                          <a:latin typeface="Segoe UI" pitchFamily="34" charset="0"/>
                          <a:ea typeface="Segoe UI" pitchFamily="34" charset="-122"/>
                          <a:cs typeface="Segoe UI" pitchFamily="34" charset="-120"/>
                        </a:rPr>
                        <a:t>Behavioral IOA</a:t>
                      </a:r>
                      <a:endParaRPr lang="en-US" sz="1200" dirty="0">
                        <a:latin typeface="Segoe UI" charset="0"/>
                        <a:ea typeface="Segoe UI" charset="0"/>
                        <a:cs typeface="Segoe UI"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200" dirty="0">
                          <a:solidFill>
                            <a:srgbClr val="5B7078"/>
                          </a:solidFill>
                          <a:latin typeface="Segoe UI" pitchFamily="34" charset="0"/>
                          <a:ea typeface="Segoe UI" pitchFamily="34" charset="-122"/>
                          <a:cs typeface="Segoe UI" pitchFamily="34" charset="-120"/>
                        </a:rPr>
                        <a:t>404 bursts, traversal ladder, boolean probe pairs, UNION SELECT</a:t>
                      </a:r>
                      <a:endParaRPr lang="en-US" sz="1200" dirty="0">
                        <a:latin typeface="Segoe UI" charset="0"/>
                        <a:ea typeface="Segoe UI" charset="0"/>
                        <a:cs typeface="Segoe UI"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134B56"/>
                          </a:solidFill>
                          <a:latin typeface="Segoe UI" pitchFamily="34" charset="0"/>
                          <a:ea typeface="Segoe UI" pitchFamily="34" charset="-122"/>
                          <a:cs typeface="Segoe UI" pitchFamily="34" charset="-120"/>
                        </a:rPr>
                        <a:t>WAF evidence</a:t>
                      </a:r>
                      <a:endParaRPr lang="en-US" sz="1200" dirty="0">
                        <a:latin typeface="Segoe UI" charset="0"/>
                        <a:ea typeface="Segoe UI" charset="0"/>
                        <a:cs typeface="Segoe UI"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200" dirty="0">
                          <a:solidFill>
                            <a:srgbClr val="5B7078"/>
                          </a:solidFill>
                          <a:latin typeface="Segoe UI" pitchFamily="34" charset="0"/>
                          <a:ea typeface="Segoe UI" pitchFamily="34" charset="-122"/>
                          <a:cs typeface="Segoe UI" pitchFamily="34" charset="-120"/>
                        </a:rPr>
                        <a:t>rule IDs 930100/110/120, 932160, 942100 at CRITICAL; score 43 (LFI=35, RCE=5)</a:t>
                      </a:r>
                      <a:endParaRPr lang="en-US" sz="1200" dirty="0">
                        <a:latin typeface="Segoe UI" charset="0"/>
                        <a:ea typeface="Segoe UI" charset="0"/>
                        <a:cs typeface="Segoe UI"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134B56"/>
                          </a:solidFill>
                          <a:latin typeface="Segoe UI" pitchFamily="34" charset="0"/>
                          <a:ea typeface="Segoe UI" pitchFamily="34" charset="-122"/>
                          <a:cs typeface="Segoe UI" pitchFamily="34" charset="-120"/>
                        </a:rPr>
                        <a:t>Confirmed compromise</a:t>
                      </a:r>
                      <a:endParaRPr lang="en-US" sz="1200" dirty="0">
                        <a:latin typeface="Segoe UI" charset="0"/>
                        <a:ea typeface="Segoe UI" charset="0"/>
                        <a:cs typeface="Segoe UI"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200" dirty="0">
                          <a:solidFill>
                            <a:srgbClr val="5B7078"/>
                          </a:solidFill>
                          <a:latin typeface="Segoe UI" pitchFamily="34" charset="0"/>
                          <a:ea typeface="Segoe UI" pitchFamily="34" charset="-122"/>
                          <a:cs typeface="Segoe UI" pitchFamily="34" charset="-120"/>
                        </a:rPr>
                        <a:t>200 responses with passwd content, database.sql read, note read</a:t>
                      </a:r>
                      <a:endParaRPr lang="en-US" sz="1200" dirty="0">
                        <a:latin typeface="Segoe UI" charset="0"/>
                        <a:ea typeface="Segoe UI" charset="0"/>
                        <a:cs typeface="Segoe UI"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134B56"/>
                          </a:solidFill>
                          <a:latin typeface="Segoe UI" pitchFamily="34" charset="0"/>
                          <a:ea typeface="Segoe UI" pitchFamily="34" charset="-122"/>
                          <a:cs typeface="Segoe UI" pitchFamily="34" charset="-120"/>
                        </a:rPr>
                        <a:t>Failed attempts</a:t>
                      </a:r>
                      <a:endParaRPr lang="en-US" sz="1200" dirty="0">
                        <a:latin typeface="Segoe UI" charset="0"/>
                        <a:ea typeface="Segoe UI" charset="0"/>
                        <a:cs typeface="Segoe UI"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200" dirty="0">
                          <a:solidFill>
                            <a:srgbClr val="5B7078"/>
                          </a:solidFill>
                          <a:latin typeface="Segoe UI" pitchFamily="34" charset="0"/>
                          <a:ea typeface="Segoe UI" pitchFamily="34" charset="-122"/>
                          <a:cs typeface="Segoe UI" pitchFamily="34" charset="-120"/>
                        </a:rPr>
                        <a:t>/etc/shadow (twice) - permission denied, logged in error.log</a:t>
                      </a:r>
                      <a:endParaRPr lang="en-US" sz="1200" dirty="0">
                        <a:latin typeface="Segoe UI" charset="0"/>
                        <a:ea typeface="Segoe UI" charset="0"/>
                        <a:cs typeface="Segoe UI"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134B56"/>
                          </a:solidFill>
                          <a:latin typeface="Segoe UI" pitchFamily="34" charset="0"/>
                          <a:ea typeface="Segoe UI" pitchFamily="34" charset="-122"/>
                          <a:cs typeface="Segoe UI" pitchFamily="34" charset="-120"/>
                        </a:rPr>
                        <a:t>Detection rule to build</a:t>
                      </a:r>
                      <a:endParaRPr lang="en-US" sz="1200" dirty="0">
                        <a:latin typeface="Segoe UI" charset="0"/>
                        <a:ea typeface="Segoe UI" charset="0"/>
                        <a:cs typeface="Segoe UI"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200" dirty="0">
                          <a:solidFill>
                            <a:srgbClr val="5B7078"/>
                          </a:solidFill>
                          <a:latin typeface="Segoe UI" pitchFamily="34" charset="0"/>
                          <a:ea typeface="Segoe UI" pitchFamily="34" charset="-122"/>
                          <a:cs typeface="Segoe UI" pitchFamily="34" charset="-120"/>
                        </a:rPr>
                        <a:t>alert on 980130 + same-IP 404 burst &gt; 30 in 5 minutes</a:t>
                      </a:r>
                      <a:endParaRPr lang="en-US" sz="1200" dirty="0">
                        <a:latin typeface="Segoe UI" charset="0"/>
                        <a:ea typeface="Segoe UI" charset="0"/>
                        <a:cs typeface="Segoe UI"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47572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078"/>
                </a:solidFill>
                <a:latin typeface="Segoe UI"/>
                <a:ea typeface="Segoe UI"/>
                <a:cs typeface="Segoe U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lIns="0" tIns="0" rIns="0" bIns="0" rtlCol="0" anchor="ctr"/>
          <a:lstStyle/>
          <a:p>
            <a:pPr indent="0" marL="0">
              <a:buNone/>
            </a:pPr>
            <a:r>
              <a:rPr lang="en-US" sz="1200" b="1" spc="300" kern="0" dirty="0">
                <a:solidFill>
                  <a:srgbClr val="1B6B7A"/>
                </a:solidFill>
                <a:latin typeface="Segoe UI" pitchFamily="34" charset="0"/>
                <a:ea typeface="Segoe UI" pitchFamily="34" charset="-122"/>
                <a:cs typeface="Segoe UI" pitchFamily="34" charset="-120"/>
              </a:rPr>
              <a:t>REPORTING</a:t>
            </a:r>
            <a:endParaRPr lang="en-US" sz="1200" dirty="0"/>
          </a:p>
        </p:txBody>
      </p:sp>
      <p:sp>
        <p:nvSpPr>
          <p:cNvPr id="3" name="Text 1"/>
          <p:cNvSpPr/>
          <p:nvPr/>
        </p:nvSpPr>
        <p:spPr>
          <a:xfrm>
            <a:off x="548640" y="658368"/>
            <a:ext cx="11091672" cy="777240"/>
          </a:xfrm>
          <a:prstGeom prst="rect">
            <a:avLst/>
          </a:prstGeom>
          <a:noFill/>
          <a:ln/>
        </p:spPr>
        <p:txBody>
          <a:bodyPr wrap="square" lIns="0" tIns="0" rIns="0" bIns="0" rtlCol="0" anchor="ctr"/>
          <a:lstStyle/>
          <a:p>
            <a:pPr indent="0" marL="0">
              <a:buNone/>
            </a:pPr>
            <a:r>
              <a:rPr lang="en-US" sz="3200" b="1" dirty="0">
                <a:solidFill>
                  <a:srgbClr val="16232B"/>
                </a:solidFill>
                <a:latin typeface="Segoe UI" pitchFamily="34" charset="0"/>
                <a:ea typeface="Segoe UI" pitchFamily="34" charset="-122"/>
                <a:cs typeface="Segoe UI" pitchFamily="34" charset="-120"/>
              </a:rPr>
              <a:t>The whole breach, one table</a:t>
            </a:r>
            <a:endParaRPr lang="en-US" sz="3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1828800"/>
                <a:gridCol w="4937760"/>
                <a:gridCol w="4325112"/>
              </a:tblGrid>
              <a:tr h="402336">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Time (+0500)</a:t>
                      </a:r>
                      <a:endParaRPr lang="en-US" sz="1100" dirty="0">
                        <a:latin typeface="Segoe UI" charset="0"/>
                        <a:ea typeface="Segoe UI" charset="0"/>
                        <a:cs typeface="Segoe UI"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1B6B7A"/>
                    </a:solidFill>
                  </a:tcPr>
                </a:tc>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Event</a:t>
                      </a:r>
                      <a:endParaRPr lang="en-US" sz="1100" dirty="0">
                        <a:latin typeface="Segoe UI" charset="0"/>
                        <a:ea typeface="Segoe UI" charset="0"/>
                        <a:cs typeface="Segoe UI"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1B6B7A"/>
                    </a:solidFill>
                  </a:tcPr>
                </a:tc>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Evidence</a:t>
                      </a:r>
                      <a:endParaRPr lang="en-US" sz="1100" dirty="0">
                        <a:latin typeface="Segoe UI" charset="0"/>
                        <a:ea typeface="Segoe UI" charset="0"/>
                        <a:cs typeface="Segoe UI"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1B6B7A"/>
                    </a:solidFill>
                  </a:tcPr>
                </a:tc>
              </a:tr>
              <a:tr h="402336">
                <a:tc>
                  <a:txBody>
                    <a:bodyPr/>
                    <a:lstStyle/>
                    <a:p>
                      <a:pPr indent="0" marL="0">
                        <a:buNone/>
                      </a:pPr>
                      <a:r>
                        <a:rPr lang="en-US" sz="1100" b="1" dirty="0">
                          <a:solidFill>
                            <a:srgbClr val="134B56"/>
                          </a:solidFill>
                          <a:latin typeface="Consolas" pitchFamily="34" charset="0"/>
                          <a:ea typeface="Consolas" pitchFamily="34" charset="-122"/>
                          <a:cs typeface="Consolas" pitchFamily="34" charset="-120"/>
                        </a:rPr>
                        <a:t>01:34:53</a:t>
                      </a:r>
                      <a:endParaRPr lang="en-US" sz="1100" dirty="0">
                        <a:latin typeface="Consolas" charset="0"/>
                        <a:ea typeface="Consolas" charset="0"/>
                        <a:cs typeface="Consolas"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100" dirty="0">
                          <a:solidFill>
                            <a:srgbClr val="5B7078"/>
                          </a:solidFill>
                          <a:latin typeface="Segoe UI" pitchFamily="34" charset="0"/>
                          <a:ea typeface="Segoe UI" pitchFamily="34" charset="-122"/>
                          <a:cs typeface="Segoe UI" pitchFamily="34" charset="-120"/>
                        </a:rPr>
                        <a:t>recon browsing: home, images.php</a:t>
                      </a:r>
                      <a:endParaRPr lang="en-US" sz="1100" dirty="0">
                        <a:latin typeface="Segoe UI" charset="0"/>
                        <a:ea typeface="Segoe UI" charset="0"/>
                        <a:cs typeface="Segoe UI"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100" dirty="0">
                          <a:solidFill>
                            <a:srgbClr val="5B7078"/>
                          </a:solidFill>
                          <a:latin typeface="Segoe UI" pitchFamily="34" charset="0"/>
                          <a:ea typeface="Segoe UI" pitchFamily="34" charset="-122"/>
                          <a:cs typeface="Segoe UI" pitchFamily="34" charset="-120"/>
                        </a:rPr>
                        <a:t>access.log lines 1-4</a:t>
                      </a:r>
                      <a:endParaRPr lang="en-US" sz="1100" dirty="0">
                        <a:latin typeface="Segoe UI" charset="0"/>
                        <a:ea typeface="Segoe UI" charset="0"/>
                        <a:cs typeface="Segoe UI"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r>
              <a:tr h="402336">
                <a:tc>
                  <a:txBody>
                    <a:bodyPr/>
                    <a:lstStyle/>
                    <a:p>
                      <a:pPr indent="0" marL="0">
                        <a:buNone/>
                      </a:pPr>
                      <a:r>
                        <a:rPr lang="en-US" sz="1100" b="1" dirty="0">
                          <a:solidFill>
                            <a:srgbClr val="134B56"/>
                          </a:solidFill>
                          <a:latin typeface="Consolas" pitchFamily="34" charset="0"/>
                          <a:ea typeface="Consolas" pitchFamily="34" charset="-122"/>
                          <a:cs typeface="Consolas" pitchFamily="34" charset="-120"/>
                        </a:rPr>
                        <a:t>01:35:07-27</a:t>
                      </a:r>
                      <a:endParaRPr lang="en-US" sz="1100" dirty="0">
                        <a:latin typeface="Consolas" charset="0"/>
                        <a:ea typeface="Consolas" charset="0"/>
                        <a:cs typeface="Consolas"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100" dirty="0">
                          <a:solidFill>
                            <a:srgbClr val="5B7078"/>
                          </a:solidFill>
                          <a:latin typeface="Segoe UI" pitchFamily="34" charset="0"/>
                          <a:ea typeface="Segoe UI" pitchFamily="34" charset="-122"/>
                          <a:cs typeface="Segoe UI" pitchFamily="34" charset="-120"/>
                        </a:rPr>
                        <a:t>path traversal ladder to /etc/passwd</a:t>
                      </a:r>
                      <a:endParaRPr lang="en-US" sz="1100" dirty="0">
                        <a:latin typeface="Segoe UI" charset="0"/>
                        <a:ea typeface="Segoe UI" charset="0"/>
                        <a:cs typeface="Segoe UI"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100" dirty="0">
                          <a:solidFill>
                            <a:srgbClr val="5B7078"/>
                          </a:solidFill>
                          <a:latin typeface="Segoe UI" pitchFamily="34" charset="0"/>
                          <a:ea typeface="Segoe UI" pitchFamily="34" charset="-122"/>
                          <a:cs typeface="Segoe UI" pitchFamily="34" charset="-120"/>
                        </a:rPr>
                        <a:t>access.log 5-10; rules 930100/110</a:t>
                      </a:r>
                      <a:endParaRPr lang="en-US" sz="1100" dirty="0">
                        <a:latin typeface="Segoe UI" charset="0"/>
                        <a:ea typeface="Segoe UI" charset="0"/>
                        <a:cs typeface="Segoe UI"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r>
              <a:tr h="402336">
                <a:tc>
                  <a:txBody>
                    <a:bodyPr/>
                    <a:lstStyle/>
                    <a:p>
                      <a:pPr indent="0" marL="0">
                        <a:buNone/>
                      </a:pPr>
                      <a:r>
                        <a:rPr lang="en-US" sz="1100" b="1" dirty="0">
                          <a:solidFill>
                            <a:srgbClr val="134B56"/>
                          </a:solidFill>
                          <a:latin typeface="Consolas" pitchFamily="34" charset="0"/>
                          <a:ea typeface="Consolas" pitchFamily="34" charset="-122"/>
                          <a:cs typeface="Consolas" pitchFamily="34" charset="-120"/>
                        </a:rPr>
                        <a:t>01:35:30</a:t>
                      </a:r>
                      <a:endParaRPr lang="en-US" sz="1100" dirty="0">
                        <a:latin typeface="Consolas" charset="0"/>
                        <a:ea typeface="Consolas" charset="0"/>
                        <a:cs typeface="Consolas"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100" dirty="0">
                          <a:solidFill>
                            <a:srgbClr val="5B7078"/>
                          </a:solidFill>
                          <a:latin typeface="Segoe UI" pitchFamily="34" charset="0"/>
                          <a:ea typeface="Segoe UI" pitchFamily="34" charset="-122"/>
                          <a:cs typeface="Segoe UI" pitchFamily="34" charset="-120"/>
                        </a:rPr>
                        <a:t>/etc/shadow attempt - DENIED</a:t>
                      </a:r>
                      <a:endParaRPr lang="en-US" sz="1100" dirty="0">
                        <a:latin typeface="Segoe UI" charset="0"/>
                        <a:ea typeface="Segoe UI" charset="0"/>
                        <a:cs typeface="Segoe UI"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100" dirty="0">
                          <a:solidFill>
                            <a:srgbClr val="5B7078"/>
                          </a:solidFill>
                          <a:latin typeface="Segoe UI" pitchFamily="34" charset="0"/>
                          <a:ea typeface="Segoe UI" pitchFamily="34" charset="-122"/>
                          <a:cs typeface="Segoe UI" pitchFamily="34" charset="-120"/>
                        </a:rPr>
                        <a:t>error.log Permission denied</a:t>
                      </a:r>
                      <a:endParaRPr lang="en-US" sz="1100" dirty="0">
                        <a:latin typeface="Segoe UI" charset="0"/>
                        <a:ea typeface="Segoe UI" charset="0"/>
                        <a:cs typeface="Segoe UI"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r>
              <a:tr h="402336">
                <a:tc>
                  <a:txBody>
                    <a:bodyPr/>
                    <a:lstStyle/>
                    <a:p>
                      <a:pPr indent="0" marL="0">
                        <a:buNone/>
                      </a:pPr>
                      <a:r>
                        <a:rPr lang="en-US" sz="1100" b="1" dirty="0">
                          <a:solidFill>
                            <a:srgbClr val="134B56"/>
                          </a:solidFill>
                          <a:latin typeface="Consolas" pitchFamily="34" charset="0"/>
                          <a:ea typeface="Consolas" pitchFamily="34" charset="-122"/>
                          <a:cs typeface="Consolas" pitchFamily="34" charset="-120"/>
                        </a:rPr>
                        <a:t>01:35:39-47</a:t>
                      </a:r>
                      <a:endParaRPr lang="en-US" sz="1100" dirty="0">
                        <a:latin typeface="Consolas" charset="0"/>
                        <a:ea typeface="Consolas" charset="0"/>
                        <a:cs typeface="Consolas"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100" dirty="0">
                          <a:solidFill>
                            <a:srgbClr val="5B7078"/>
                          </a:solidFill>
                          <a:latin typeface="Segoe UI" pitchFamily="34" charset="0"/>
                          <a:ea typeface="Segoe UI" pitchFamily="34" charset="-122"/>
                          <a:cs typeface="Segoe UI" pitchFamily="34" charset="-120"/>
                        </a:rPr>
                        <a:t>RCE: whoami, ls, cat database.sql</a:t>
                      </a:r>
                      <a:endParaRPr lang="en-US" sz="1100" dirty="0">
                        <a:latin typeface="Segoe UI" charset="0"/>
                        <a:ea typeface="Segoe UI" charset="0"/>
                        <a:cs typeface="Segoe UI"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100" dirty="0">
                          <a:solidFill>
                            <a:srgbClr val="5B7078"/>
                          </a:solidFill>
                          <a:latin typeface="Segoe UI" pitchFamily="34" charset="0"/>
                          <a:ea typeface="Segoe UI" pitchFamily="34" charset="-122"/>
                          <a:cs typeface="Segoe UI" pitchFamily="34" charset="-120"/>
                        </a:rPr>
                        <a:t>audit C-sections</a:t>
                      </a:r>
                      <a:endParaRPr lang="en-US" sz="1100" dirty="0">
                        <a:latin typeface="Segoe UI" charset="0"/>
                        <a:ea typeface="Segoe UI" charset="0"/>
                        <a:cs typeface="Segoe UI"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r>
              <a:tr h="402336">
                <a:tc>
                  <a:txBody>
                    <a:bodyPr/>
                    <a:lstStyle/>
                    <a:p>
                      <a:pPr indent="0" marL="0">
                        <a:buNone/>
                      </a:pPr>
                      <a:r>
                        <a:rPr lang="en-US" sz="1100" b="1" dirty="0">
                          <a:solidFill>
                            <a:srgbClr val="134B56"/>
                          </a:solidFill>
                          <a:latin typeface="Consolas" pitchFamily="34" charset="0"/>
                          <a:ea typeface="Consolas" pitchFamily="34" charset="-122"/>
                          <a:cs typeface="Consolas" pitchFamily="34" charset="-120"/>
                        </a:rPr>
                        <a:t>01:36:02-07</a:t>
                      </a:r>
                      <a:endParaRPr lang="en-US" sz="1100" dirty="0">
                        <a:latin typeface="Consolas" charset="0"/>
                        <a:ea typeface="Consolas" charset="0"/>
                        <a:cs typeface="Consolas"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100" dirty="0">
                          <a:solidFill>
                            <a:srgbClr val="5B7078"/>
                          </a:solidFill>
                          <a:latin typeface="Segoe UI" pitchFamily="34" charset="0"/>
                          <a:ea typeface="Segoe UI" pitchFamily="34" charset="-122"/>
                          <a:cs typeface="Segoe UI" pitchFamily="34" charset="-120"/>
                        </a:rPr>
                        <a:t>404 probes: d.php, database.php</a:t>
                      </a:r>
                      <a:endParaRPr lang="en-US" sz="1100" dirty="0">
                        <a:latin typeface="Segoe UI" charset="0"/>
                        <a:ea typeface="Segoe UI" charset="0"/>
                        <a:cs typeface="Segoe UI"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100" dirty="0">
                          <a:solidFill>
                            <a:srgbClr val="5B7078"/>
                          </a:solidFill>
                          <a:latin typeface="Segoe UI" pitchFamily="34" charset="0"/>
                          <a:ea typeface="Segoe UI" pitchFamily="34" charset="-122"/>
                          <a:cs typeface="Segoe UI" pitchFamily="34" charset="-120"/>
                        </a:rPr>
                        <a:t>access.log 17-18</a:t>
                      </a:r>
                      <a:endParaRPr lang="en-US" sz="1100" dirty="0">
                        <a:latin typeface="Segoe UI" charset="0"/>
                        <a:ea typeface="Segoe UI" charset="0"/>
                        <a:cs typeface="Segoe UI"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r>
              <a:tr h="402336">
                <a:tc>
                  <a:txBody>
                    <a:bodyPr/>
                    <a:lstStyle/>
                    <a:p>
                      <a:pPr indent="0" marL="0">
                        <a:buNone/>
                      </a:pPr>
                      <a:r>
                        <a:rPr lang="en-US" sz="1100" b="1" dirty="0">
                          <a:solidFill>
                            <a:srgbClr val="134B56"/>
                          </a:solidFill>
                          <a:latin typeface="Consolas" pitchFamily="34" charset="0"/>
                          <a:ea typeface="Consolas" pitchFamily="34" charset="-122"/>
                          <a:cs typeface="Consolas" pitchFamily="34" charset="-120"/>
                        </a:rPr>
                        <a:t>01:36:19-31</a:t>
                      </a:r>
                      <a:endParaRPr lang="en-US" sz="1100" dirty="0">
                        <a:latin typeface="Consolas" charset="0"/>
                        <a:ea typeface="Consolas" charset="0"/>
                        <a:cs typeface="Consolas"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100" dirty="0">
                          <a:solidFill>
                            <a:srgbClr val="5B7078"/>
                          </a:solidFill>
                          <a:latin typeface="Segoe UI" pitchFamily="34" charset="0"/>
                          <a:ea typeface="Segoe UI" pitchFamily="34" charset="-122"/>
                          <a:cs typeface="Segoe UI" pitchFamily="34" charset="-120"/>
                        </a:rPr>
                        <a:t>manual SQLi boolean probes</a:t>
                      </a:r>
                      <a:endParaRPr lang="en-US" sz="1100" dirty="0">
                        <a:latin typeface="Segoe UI" charset="0"/>
                        <a:ea typeface="Segoe UI" charset="0"/>
                        <a:cs typeface="Segoe UI"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100" dirty="0">
                          <a:solidFill>
                            <a:srgbClr val="5B7078"/>
                          </a:solidFill>
                          <a:latin typeface="Segoe UI" pitchFamily="34" charset="0"/>
                          <a:ea typeface="Segoe UI" pitchFamily="34" charset="-122"/>
                          <a:cs typeface="Segoe UI" pitchFamily="34" charset="-120"/>
                        </a:rPr>
                        <a:t>audit bodies</a:t>
                      </a:r>
                      <a:endParaRPr lang="en-US" sz="1100" dirty="0">
                        <a:latin typeface="Segoe UI" charset="0"/>
                        <a:ea typeface="Segoe UI" charset="0"/>
                        <a:cs typeface="Segoe UI"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r>
              <a:tr h="402336">
                <a:tc>
                  <a:txBody>
                    <a:bodyPr/>
                    <a:lstStyle/>
                    <a:p>
                      <a:pPr indent="0" marL="0">
                        <a:buNone/>
                      </a:pPr>
                      <a:r>
                        <a:rPr lang="en-US" sz="1100" b="1" dirty="0">
                          <a:solidFill>
                            <a:srgbClr val="134B56"/>
                          </a:solidFill>
                          <a:latin typeface="Consolas" pitchFamily="34" charset="0"/>
                          <a:ea typeface="Consolas" pitchFamily="34" charset="-122"/>
                          <a:cs typeface="Consolas" pitchFamily="34" charset="-120"/>
                        </a:rPr>
                        <a:t>01:36:55+</a:t>
                      </a:r>
                      <a:endParaRPr lang="en-US" sz="1100" dirty="0">
                        <a:latin typeface="Consolas" charset="0"/>
                        <a:ea typeface="Consolas" charset="0"/>
                        <a:cs typeface="Consolas"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100" dirty="0">
                          <a:solidFill>
                            <a:srgbClr val="5B7078"/>
                          </a:solidFill>
                          <a:latin typeface="Segoe UI" pitchFamily="34" charset="0"/>
                          <a:ea typeface="Segoe UI" pitchFamily="34" charset="-122"/>
                          <a:cs typeface="Segoe UI" pitchFamily="34" charset="-120"/>
                        </a:rPr>
                        <a:t>sqlmap automated SQLi</a:t>
                      </a:r>
                      <a:endParaRPr lang="en-US" sz="1100" dirty="0">
                        <a:latin typeface="Segoe UI" charset="0"/>
                        <a:ea typeface="Segoe UI" charset="0"/>
                        <a:cs typeface="Segoe UI"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100" dirty="0">
                          <a:solidFill>
                            <a:srgbClr val="5B7078"/>
                          </a:solidFill>
                          <a:latin typeface="Segoe UI" pitchFamily="34" charset="0"/>
                          <a:ea typeface="Segoe UI" pitchFamily="34" charset="-122"/>
                          <a:cs typeface="Segoe UI" pitchFamily="34" charset="-120"/>
                        </a:rPr>
                        <a:t>UA in access.log</a:t>
                      </a:r>
                      <a:endParaRPr lang="en-US" sz="1100" dirty="0">
                        <a:latin typeface="Segoe UI" charset="0"/>
                        <a:ea typeface="Segoe UI" charset="0"/>
                        <a:cs typeface="Segoe UI"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r>
              <a:tr h="402336">
                <a:tc>
                  <a:txBody>
                    <a:bodyPr/>
                    <a:lstStyle/>
                    <a:p>
                      <a:pPr indent="0" marL="0">
                        <a:buNone/>
                      </a:pPr>
                      <a:r>
                        <a:rPr lang="en-US" sz="1100" b="1" dirty="0">
                          <a:solidFill>
                            <a:srgbClr val="134B56"/>
                          </a:solidFill>
                          <a:latin typeface="Consolas" pitchFamily="34" charset="0"/>
                          <a:ea typeface="Consolas" pitchFamily="34" charset="-122"/>
                          <a:cs typeface="Consolas" pitchFamily="34" charset="-120"/>
                        </a:rPr>
                        <a:t>01:37:16-25</a:t>
                      </a:r>
                      <a:endParaRPr lang="en-US" sz="1100" dirty="0">
                        <a:latin typeface="Consolas" charset="0"/>
                        <a:ea typeface="Consolas" charset="0"/>
                        <a:cs typeface="Consolas"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100" dirty="0">
                          <a:solidFill>
                            <a:srgbClr val="5B7078"/>
                          </a:solidFill>
                          <a:latin typeface="Segoe UI" pitchFamily="34" charset="0"/>
                          <a:ea typeface="Segoe UI" pitchFamily="34" charset="-122"/>
                          <a:cs typeface="Segoe UI" pitchFamily="34" charset="-120"/>
                        </a:rPr>
                        <a:t>more RCE: cat /important_note.txt</a:t>
                      </a:r>
                      <a:endParaRPr lang="en-US" sz="1100" dirty="0">
                        <a:latin typeface="Segoe UI" charset="0"/>
                        <a:ea typeface="Segoe UI" charset="0"/>
                        <a:cs typeface="Segoe UI"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100" dirty="0">
                          <a:solidFill>
                            <a:srgbClr val="5B7078"/>
                          </a:solidFill>
                          <a:latin typeface="Segoe UI" pitchFamily="34" charset="0"/>
                          <a:ea typeface="Segoe UI" pitchFamily="34" charset="-122"/>
                          <a:cs typeface="Segoe UI" pitchFamily="34" charset="-120"/>
                        </a:rPr>
                        <a:t>audit C/E</a:t>
                      </a:r>
                      <a:endParaRPr lang="en-US" sz="1100" dirty="0">
                        <a:latin typeface="Segoe UI" charset="0"/>
                        <a:ea typeface="Segoe UI" charset="0"/>
                        <a:cs typeface="Segoe UI"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r>
              <a:tr h="402336">
                <a:tc>
                  <a:txBody>
                    <a:bodyPr/>
                    <a:lstStyle/>
                    <a:p>
                      <a:pPr indent="0" marL="0">
                        <a:buNone/>
                      </a:pPr>
                      <a:r>
                        <a:rPr lang="en-US" sz="1100" b="1" dirty="0">
                          <a:solidFill>
                            <a:srgbClr val="134B56"/>
                          </a:solidFill>
                          <a:latin typeface="Consolas" pitchFamily="34" charset="0"/>
                          <a:ea typeface="Consolas" pitchFamily="34" charset="-122"/>
                          <a:cs typeface="Consolas" pitchFamily="34" charset="-120"/>
                        </a:rPr>
                        <a:t>01:37:49</a:t>
                      </a:r>
                      <a:endParaRPr lang="en-US" sz="1100" dirty="0">
                        <a:latin typeface="Consolas" charset="0"/>
                        <a:ea typeface="Consolas" charset="0"/>
                        <a:cs typeface="Consolas"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100" dirty="0">
                          <a:solidFill>
                            <a:srgbClr val="5B7078"/>
                          </a:solidFill>
                          <a:latin typeface="Segoe UI" pitchFamily="34" charset="0"/>
                          <a:ea typeface="Segoe UI" pitchFamily="34" charset="-122"/>
                          <a:cs typeface="Segoe UI" pitchFamily="34" charset="-120"/>
                        </a:rPr>
                        <a:t>traversal reads important_note.txt</a:t>
                      </a:r>
                      <a:endParaRPr lang="en-US" sz="1100" dirty="0">
                        <a:latin typeface="Segoe UI" charset="0"/>
                        <a:ea typeface="Segoe UI" charset="0"/>
                        <a:cs typeface="Segoe UI"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100" dirty="0">
                          <a:solidFill>
                            <a:srgbClr val="5B7078"/>
                          </a:solidFill>
                          <a:latin typeface="Segoe UI" pitchFamily="34" charset="0"/>
                          <a:ea typeface="Segoe UI" pitchFamily="34" charset="-122"/>
                          <a:cs typeface="Segoe UI" pitchFamily="34" charset="-120"/>
                        </a:rPr>
                        <a:t>access.log 32-33</a:t>
                      </a:r>
                      <a:endParaRPr lang="en-US" sz="1100" dirty="0">
                        <a:latin typeface="Segoe UI" charset="0"/>
                        <a:ea typeface="Segoe UI" charset="0"/>
                        <a:cs typeface="Segoe UI"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r>
              <a:tr h="402336">
                <a:tc>
                  <a:txBody>
                    <a:bodyPr/>
                    <a:lstStyle/>
                    <a:p>
                      <a:pPr indent="0" marL="0">
                        <a:buNone/>
                      </a:pPr>
                      <a:r>
                        <a:rPr lang="en-US" sz="1100" b="1" dirty="0">
                          <a:solidFill>
                            <a:srgbClr val="134B56"/>
                          </a:solidFill>
                          <a:latin typeface="Consolas" pitchFamily="34" charset="0"/>
                          <a:ea typeface="Consolas" pitchFamily="34" charset="-122"/>
                          <a:cs typeface="Consolas" pitchFamily="34" charset="-120"/>
                        </a:rPr>
                        <a:t>01:38:28</a:t>
                      </a:r>
                      <a:endParaRPr lang="en-US" sz="1100" dirty="0">
                        <a:latin typeface="Consolas" charset="0"/>
                        <a:ea typeface="Consolas" charset="0"/>
                        <a:cs typeface="Consolas"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100" dirty="0">
                          <a:solidFill>
                            <a:srgbClr val="5B7078"/>
                          </a:solidFill>
                          <a:latin typeface="Segoe UI" pitchFamily="34" charset="0"/>
                          <a:ea typeface="Segoe UI" pitchFamily="34" charset="-122"/>
                          <a:cs typeface="Segoe UI" pitchFamily="34" charset="-120"/>
                        </a:rPr>
                        <a:t>final SQLi UNION dump</a:t>
                      </a:r>
                      <a:endParaRPr lang="en-US" sz="1100" dirty="0">
                        <a:latin typeface="Segoe UI" charset="0"/>
                        <a:ea typeface="Segoe UI" charset="0"/>
                        <a:cs typeface="Segoe UI"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100" dirty="0">
                          <a:solidFill>
                            <a:srgbClr val="5B7078"/>
                          </a:solidFill>
                          <a:latin typeface="Segoe UI" pitchFamily="34" charset="0"/>
                          <a:ea typeface="Segoe UI" pitchFamily="34" charset="-122"/>
                          <a:cs typeface="Segoe UI" pitchFamily="34" charset="-120"/>
                        </a:rPr>
                        <a:t>audit E-section</a:t>
                      </a:r>
                      <a:endParaRPr lang="en-US" sz="1100" dirty="0">
                        <a:latin typeface="Segoe UI" charset="0"/>
                        <a:ea typeface="Segoe UI" charset="0"/>
                        <a:cs typeface="Segoe UI"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47572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078"/>
                </a:solidFill>
                <a:latin typeface="Segoe UI"/>
                <a:ea typeface="Segoe UI"/>
                <a:cs typeface="Segoe U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lIns="0" tIns="0" rIns="0" bIns="0" rtlCol="0" anchor="ctr"/>
          <a:lstStyle/>
          <a:p>
            <a:pPr indent="0" marL="0">
              <a:buNone/>
            </a:pPr>
            <a:r>
              <a:rPr lang="en-US" sz="1200" b="1" spc="300" kern="0" dirty="0">
                <a:solidFill>
                  <a:srgbClr val="1B6B7A"/>
                </a:solidFill>
                <a:latin typeface="Segoe UI" pitchFamily="34" charset="0"/>
                <a:ea typeface="Segoe UI" pitchFamily="34" charset="-122"/>
                <a:cs typeface="Segoe UI" pitchFamily="34" charset="-120"/>
              </a:rPr>
              <a:t>FIELD NOTES</a:t>
            </a:r>
            <a:endParaRPr lang="en-US" sz="1200" dirty="0"/>
          </a:p>
        </p:txBody>
      </p:sp>
      <p:sp>
        <p:nvSpPr>
          <p:cNvPr id="3" name="Text 1"/>
          <p:cNvSpPr/>
          <p:nvPr/>
        </p:nvSpPr>
        <p:spPr>
          <a:xfrm>
            <a:off x="548640" y="658368"/>
            <a:ext cx="11091672" cy="777240"/>
          </a:xfrm>
          <a:prstGeom prst="rect">
            <a:avLst/>
          </a:prstGeom>
          <a:noFill/>
          <a:ln/>
        </p:spPr>
        <p:txBody>
          <a:bodyPr wrap="square" lIns="0" tIns="0" rIns="0" bIns="0" rtlCol="0" anchor="ctr"/>
          <a:lstStyle/>
          <a:p>
            <a:pPr indent="0" marL="0">
              <a:buNone/>
            </a:pPr>
            <a:r>
              <a:rPr lang="en-US" sz="3200" b="1" dirty="0">
                <a:solidFill>
                  <a:srgbClr val="16232B"/>
                </a:solidFill>
                <a:latin typeface="Segoe UI" pitchFamily="34" charset="0"/>
                <a:ea typeface="Segoe UI" pitchFamily="34" charset="-122"/>
                <a:cs typeface="Segoe UI" pitchFamily="34" charset="-120"/>
              </a:rPr>
              <a:t>Common mistakes, proven habits</a:t>
            </a:r>
            <a:endParaRPr lang="en-US" sz="3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91672" cy="914400"/>
        </p:xfrm>
        <a:graphic>
          <a:graphicData uri="http://schemas.openxmlformats.org/drawingml/2006/table">
            <a:tbl>
              <a:tblPr/>
              <a:tblGrid>
                <a:gridCol w="4480560"/>
                <a:gridCol w="6620256"/>
              </a:tblGrid>
              <a:tr h="457200">
                <a:tc>
                  <a:txBody>
                    <a:bodyPr/>
                    <a:lstStyle/>
                    <a:p>
                      <a:pPr indent="0" marL="0">
                        <a:buNone/>
                      </a:pPr>
                      <a:r>
                        <a:rPr lang="en-US" sz="1250" b="1" dirty="0">
                          <a:solidFill>
                            <a:srgbClr val="FFFFFF"/>
                          </a:solidFill>
                          <a:latin typeface="Segoe UI" pitchFamily="34" charset="0"/>
                          <a:ea typeface="Segoe UI" pitchFamily="34" charset="-122"/>
                          <a:cs typeface="Segoe UI" pitchFamily="34" charset="-120"/>
                        </a:rPr>
                        <a:t>Mistake</a:t>
                      </a:r>
                      <a:endParaRPr lang="en-US" sz="1250" dirty="0">
                        <a:latin typeface="Segoe UI" charset="0"/>
                        <a:ea typeface="Segoe UI" charset="0"/>
                        <a:cs typeface="Segoe UI"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1B6B7A"/>
                    </a:solidFill>
                  </a:tcPr>
                </a:tc>
                <a:tc>
                  <a:txBody>
                    <a:bodyPr/>
                    <a:lstStyle/>
                    <a:p>
                      <a:pPr indent="0" marL="0">
                        <a:buNone/>
                      </a:pPr>
                      <a:r>
                        <a:rPr lang="en-US" sz="1250" b="1" dirty="0">
                          <a:solidFill>
                            <a:srgbClr val="FFFFFF"/>
                          </a:solidFill>
                          <a:latin typeface="Segoe UI" pitchFamily="34" charset="0"/>
                          <a:ea typeface="Segoe UI" pitchFamily="34" charset="-122"/>
                          <a:cs typeface="Segoe UI" pitchFamily="34" charset="-120"/>
                        </a:rPr>
                        <a:t>Habit instead</a:t>
                      </a:r>
                      <a:endParaRPr lang="en-US" sz="1250" dirty="0">
                        <a:latin typeface="Segoe UI" charset="0"/>
                        <a:ea typeface="Segoe UI" charset="0"/>
                        <a:cs typeface="Segoe UI"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1B6B7A"/>
                    </a:solidFill>
                  </a:tcPr>
                </a:tc>
              </a:tr>
              <a:tr h="457200">
                <a:tc>
                  <a:txBody>
                    <a:bodyPr/>
                    <a:lstStyle/>
                    <a:p>
                      <a:pPr indent="0" marL="0">
                        <a:buNone/>
                      </a:pPr>
                      <a:r>
                        <a:rPr lang="en-US" sz="1250" b="1" dirty="0">
                          <a:solidFill>
                            <a:srgbClr val="134B56"/>
                          </a:solidFill>
                          <a:latin typeface="Segoe UI" pitchFamily="34" charset="0"/>
                          <a:ea typeface="Segoe UI" pitchFamily="34" charset="-122"/>
                          <a:cs typeface="Segoe UI" pitchFamily="34" charset="-120"/>
                        </a:rPr>
                        <a:t>Reading only access.log</a:t>
                      </a:r>
                      <a:endParaRPr lang="en-US" sz="1250" dirty="0">
                        <a:latin typeface="Segoe UI" charset="0"/>
                        <a:ea typeface="Segoe UI" charset="0"/>
                        <a:cs typeface="Segoe UI"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250" dirty="0">
                          <a:solidFill>
                            <a:srgbClr val="5B7078"/>
                          </a:solidFill>
                          <a:latin typeface="Segoe UI" pitchFamily="34" charset="0"/>
                          <a:ea typeface="Segoe UI" pitchFamily="34" charset="-122"/>
                          <a:cs typeface="Segoe UI" pitchFamily="34" charset="-120"/>
                        </a:rPr>
                        <a:t>POST bodies and responses live in the audit log - always open section C and E</a:t>
                      </a:r>
                      <a:endParaRPr lang="en-US" sz="1250" dirty="0">
                        <a:latin typeface="Segoe UI" charset="0"/>
                        <a:ea typeface="Segoe UI" charset="0"/>
                        <a:cs typeface="Segoe UI"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34B56"/>
                          </a:solidFill>
                          <a:latin typeface="Segoe UI" pitchFamily="34" charset="0"/>
                          <a:ea typeface="Segoe UI" pitchFamily="34" charset="-122"/>
                          <a:cs typeface="Segoe UI" pitchFamily="34" charset="-120"/>
                        </a:rPr>
                        <a:t>Decoding payloads once</a:t>
                      </a:r>
                      <a:endParaRPr lang="en-US" sz="1250" dirty="0">
                        <a:latin typeface="Segoe UI" charset="0"/>
                        <a:ea typeface="Segoe UI" charset="0"/>
                        <a:cs typeface="Segoe UI"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250" dirty="0">
                          <a:solidFill>
                            <a:srgbClr val="5B7078"/>
                          </a:solidFill>
                          <a:latin typeface="Segoe UI" pitchFamily="34" charset="0"/>
                          <a:ea typeface="Segoe UI" pitchFamily="34" charset="-122"/>
                          <a:cs typeface="Segoe UI" pitchFamily="34" charset="-120"/>
                        </a:rPr>
                        <a:t>decode until the string stops changing; layers hide layers</a:t>
                      </a:r>
                      <a:endParaRPr lang="en-US" sz="1250" dirty="0">
                        <a:latin typeface="Segoe UI" charset="0"/>
                        <a:ea typeface="Segoe UI" charset="0"/>
                        <a:cs typeface="Segoe UI"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34B56"/>
                          </a:solidFill>
                          <a:latin typeface="Segoe UI" pitchFamily="34" charset="0"/>
                          <a:ea typeface="Segoe UI" pitchFamily="34" charset="-122"/>
                          <a:cs typeface="Segoe UI" pitchFamily="34" charset="-120"/>
                        </a:rPr>
                        <a:t>Trusting status 200 as success</a:t>
                      </a:r>
                      <a:endParaRPr lang="en-US" sz="1250" dirty="0">
                        <a:latin typeface="Segoe UI" charset="0"/>
                        <a:ea typeface="Segoe UI" charset="0"/>
                        <a:cs typeface="Segoe UI"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250" dirty="0">
                          <a:solidFill>
                            <a:srgbClr val="5B7078"/>
                          </a:solidFill>
                          <a:latin typeface="Segoe UI" pitchFamily="34" charset="0"/>
                          <a:ea typeface="Segoe UI" pitchFamily="34" charset="-122"/>
                          <a:cs typeface="Segoe UI" pitchFamily="34" charset="-120"/>
                        </a:rPr>
                        <a:t>200 + small size can be an error page; check E and byte count</a:t>
                      </a:r>
                      <a:endParaRPr lang="en-US" sz="1250" dirty="0">
                        <a:latin typeface="Segoe UI" charset="0"/>
                        <a:ea typeface="Segoe UI" charset="0"/>
                        <a:cs typeface="Segoe UI"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34B56"/>
                          </a:solidFill>
                          <a:latin typeface="Segoe UI" pitchFamily="34" charset="0"/>
                          <a:ea typeface="Segoe UI" pitchFamily="34" charset="-122"/>
                          <a:cs typeface="Segoe UI" pitchFamily="34" charset="-120"/>
                        </a:rPr>
                        <a:t>Editing logs in place</a:t>
                      </a:r>
                      <a:endParaRPr lang="en-US" sz="1250" dirty="0">
                        <a:latin typeface="Segoe UI" charset="0"/>
                        <a:ea typeface="Segoe UI" charset="0"/>
                        <a:cs typeface="Segoe UI"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250" dirty="0">
                          <a:solidFill>
                            <a:srgbClr val="5B7078"/>
                          </a:solidFill>
                          <a:latin typeface="Segoe UI" pitchFamily="34" charset="0"/>
                          <a:ea typeface="Segoe UI" pitchFamily="34" charset="-122"/>
                          <a:cs typeface="Segoe UI" pitchFamily="34" charset="-120"/>
                        </a:rPr>
                        <a:t>work on copies from logs.zip; hash before and after</a:t>
                      </a:r>
                      <a:endParaRPr lang="en-US" sz="1250" dirty="0">
                        <a:latin typeface="Segoe UI" charset="0"/>
                        <a:ea typeface="Segoe UI" charset="0"/>
                        <a:cs typeface="Segoe UI"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34B56"/>
                          </a:solidFill>
                          <a:latin typeface="Segoe UI" pitchFamily="34" charset="0"/>
                          <a:ea typeface="Segoe UI" pitchFamily="34" charset="-122"/>
                          <a:cs typeface="Segoe UI" pitchFamily="34" charset="-120"/>
                        </a:rPr>
                        <a:t>Reporting 'hacked' without outcome</a:t>
                      </a:r>
                      <a:endParaRPr lang="en-US" sz="1250" dirty="0">
                        <a:latin typeface="Segoe UI" charset="0"/>
                        <a:ea typeface="Segoe UI" charset="0"/>
                        <a:cs typeface="Segoe UI"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250" dirty="0">
                          <a:solidFill>
                            <a:srgbClr val="5B7078"/>
                          </a:solidFill>
                          <a:latin typeface="Segoe UI" pitchFamily="34" charset="0"/>
                          <a:ea typeface="Segoe UI" pitchFamily="34" charset="-122"/>
                          <a:cs typeface="Segoe UI" pitchFamily="34" charset="-120"/>
                        </a:rPr>
                        <a:t>separate attempted (IOA) from successful (IOC) in every report</a:t>
                      </a:r>
                      <a:endParaRPr lang="en-US" sz="1250" dirty="0">
                        <a:latin typeface="Segoe UI" charset="0"/>
                        <a:ea typeface="Segoe UI" charset="0"/>
                        <a:cs typeface="Segoe UI" charset="0"/>
                      </a:endParaRPr>
                    </a:p>
                  </a:txBody>
                  <a:tcPr marL="64008" marR="64008" marT="64008" marB="64008"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47572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078"/>
                </a:solidFill>
                <a:latin typeface="Segoe UI"/>
                <a:ea typeface="Segoe UI"/>
                <a:cs typeface="Segoe U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685800"/>
            <a:ext cx="5486400" cy="320040"/>
          </a:xfrm>
          <a:prstGeom prst="rect">
            <a:avLst/>
          </a:prstGeom>
          <a:noFill/>
          <a:ln/>
        </p:spPr>
        <p:txBody>
          <a:bodyPr wrap="square" lIns="0" tIns="0" rIns="0" bIns="0" rtlCol="0" anchor="ctr"/>
          <a:lstStyle/>
          <a:p>
            <a:pPr indent="0" marL="0">
              <a:buNone/>
            </a:pPr>
            <a:r>
              <a:rPr lang="en-US" sz="1300" b="1" spc="300" kern="0" dirty="0">
                <a:solidFill>
                  <a:srgbClr val="37DCF2"/>
                </a:solidFill>
                <a:latin typeface="Segoe UI" pitchFamily="34" charset="0"/>
                <a:ea typeface="Segoe UI" pitchFamily="34" charset="-122"/>
                <a:cs typeface="Segoe UI" pitchFamily="34" charset="-120"/>
              </a:rPr>
              <a:t>YOUR TURN</a:t>
            </a:r>
            <a:endParaRPr lang="en-US" sz="1300" dirty="0"/>
          </a:p>
        </p:txBody>
      </p:sp>
      <p:sp>
        <p:nvSpPr>
          <p:cNvPr id="3" name="Text 1"/>
          <p:cNvSpPr/>
          <p:nvPr/>
        </p:nvSpPr>
        <p:spPr>
          <a:xfrm>
            <a:off x="548640" y="1097280"/>
            <a:ext cx="10515600" cy="914400"/>
          </a:xfrm>
          <a:prstGeom prst="rect">
            <a:avLst/>
          </a:prstGeom>
          <a:noFill/>
          <a:ln/>
        </p:spPr>
        <p:txBody>
          <a:bodyPr wrap="square" lIns="0" tIns="0" rIns="0" bIns="0" rtlCol="0" anchor="ctr"/>
          <a:lstStyle/>
          <a:p>
            <a:pPr indent="0" marL="0">
              <a:buNone/>
            </a:pPr>
            <a:r>
              <a:rPr lang="en-US" sz="3400" b="1" dirty="0">
                <a:solidFill>
                  <a:srgbClr val="FFFFFF"/>
                </a:solidFill>
                <a:latin typeface="Segoe UI" pitchFamily="34" charset="0"/>
                <a:ea typeface="Segoe UI" pitchFamily="34" charset="-122"/>
                <a:cs typeface="Segoe UI" pitchFamily="34" charset="-120"/>
              </a:rPr>
              <a:t>Two fresh log sets. Same discipline.</a:t>
            </a:r>
            <a:endParaRPr lang="en-US" sz="3400" dirty="0"/>
          </a:p>
        </p:txBody>
      </p:sp>
      <p:sp>
        <p:nvSpPr>
          <p:cNvPr id="4" name="Text 2"/>
          <p:cNvSpPr/>
          <p:nvPr/>
        </p:nvSpPr>
        <p:spPr>
          <a:xfrm>
            <a:off x="548640" y="2240280"/>
            <a:ext cx="868680" cy="594360"/>
          </a:xfrm>
          <a:prstGeom prst="rect">
            <a:avLst/>
          </a:prstGeom>
          <a:noFill/>
          <a:ln/>
        </p:spPr>
        <p:txBody>
          <a:bodyPr wrap="square" lIns="0" tIns="0" rIns="0" bIns="0" rtlCol="0" anchor="ctr"/>
          <a:lstStyle/>
          <a:p>
            <a:pPr indent="0" marL="0">
              <a:buNone/>
            </a:pPr>
            <a:r>
              <a:rPr lang="en-US" sz="2800" b="1" dirty="0">
                <a:solidFill>
                  <a:srgbClr val="37DCF2"/>
                </a:solidFill>
                <a:latin typeface="Consolas" pitchFamily="34" charset="0"/>
                <a:ea typeface="Consolas" pitchFamily="34" charset="-122"/>
                <a:cs typeface="Consolas" pitchFamily="34" charset="-120"/>
              </a:rPr>
              <a:t>01</a:t>
            </a:r>
            <a:endParaRPr lang="en-US" sz="2800" dirty="0"/>
          </a:p>
        </p:txBody>
      </p:sp>
      <p:sp>
        <p:nvSpPr>
          <p:cNvPr id="5" name="Text 3"/>
          <p:cNvSpPr/>
          <p:nvPr/>
        </p:nvSpPr>
        <p:spPr>
          <a:xfrm>
            <a:off x="1554480" y="2267712"/>
            <a:ext cx="9692640" cy="365760"/>
          </a:xfrm>
          <a:prstGeom prst="rect">
            <a:avLst/>
          </a:prstGeom>
          <a:noFill/>
          <a:ln/>
        </p:spPr>
        <p:txBody>
          <a:bodyPr wrap="square" lIns="0" tIns="0" rIns="0" bIns="0" rtlCol="0" anchor="ctr"/>
          <a:lstStyle/>
          <a:p>
            <a:pPr indent="0" marL="0">
              <a:buNone/>
            </a:pPr>
            <a:r>
              <a:rPr lang="en-US" sz="1900" b="1" dirty="0">
                <a:solidFill>
                  <a:srgbClr val="FFFFFF"/>
                </a:solidFill>
                <a:latin typeface="Segoe UI" pitchFamily="34" charset="0"/>
                <a:ea typeface="Segoe UI" pitchFamily="34" charset="-122"/>
                <a:cs typeface="Segoe UI" pitchFamily="34" charset="-120"/>
              </a:rPr>
              <a:t>Challenge B — 4.2</a:t>
            </a:r>
            <a:endParaRPr lang="en-US" sz="1900" dirty="0"/>
          </a:p>
        </p:txBody>
      </p:sp>
      <p:sp>
        <p:nvSpPr>
          <p:cNvPr id="6" name="Text 4"/>
          <p:cNvSpPr/>
          <p:nvPr/>
        </p:nvSpPr>
        <p:spPr>
          <a:xfrm>
            <a:off x="1554480" y="2651760"/>
            <a:ext cx="9692640" cy="731520"/>
          </a:xfrm>
          <a:prstGeom prst="rect">
            <a:avLst/>
          </a:prstGeom>
          <a:noFill/>
          <a:ln/>
        </p:spPr>
        <p:txBody>
          <a:bodyPr wrap="square" lIns="0" tIns="0" rIns="0" bIns="0" rtlCol="0" anchor="ctr"/>
          <a:lstStyle/>
          <a:p>
            <a:pPr indent="0" marL="0">
              <a:lnSpc>
                <a:spcPct val="112000"/>
              </a:lnSpc>
              <a:buNone/>
            </a:pPr>
            <a:r>
              <a:rPr lang="en-US" sz="1250" dirty="0">
                <a:solidFill>
                  <a:srgbClr val="DCE9EE"/>
                </a:solidFill>
                <a:latin typeface="Segoe UI" pitchFamily="34" charset="0"/>
                <a:ea typeface="Segoe UI" pitchFamily="34" charset="-122"/>
                <a:cs typeface="Segoe UI" pitchFamily="34" charset="-120"/>
              </a:rPr>
              <a:t>traffic_shop.log: 1,488 lines of shop traffic with one bad evening. Rank the IPs, catch the scanner by its user agent and its 404s, watch the probe pair and the two UNION dumps, then decode the goodbye query - carefully, and more than once.</a:t>
            </a:r>
            <a:endParaRPr lang="en-US" sz="1250" dirty="0"/>
          </a:p>
        </p:txBody>
      </p:sp>
      <p:sp>
        <p:nvSpPr>
          <p:cNvPr id="7" name="Text 5"/>
          <p:cNvSpPr/>
          <p:nvPr/>
        </p:nvSpPr>
        <p:spPr>
          <a:xfrm>
            <a:off x="548640" y="3474720"/>
            <a:ext cx="868680" cy="594360"/>
          </a:xfrm>
          <a:prstGeom prst="rect">
            <a:avLst/>
          </a:prstGeom>
          <a:noFill/>
          <a:ln/>
        </p:spPr>
        <p:txBody>
          <a:bodyPr wrap="square" lIns="0" tIns="0" rIns="0" bIns="0" rtlCol="0" anchor="ctr"/>
          <a:lstStyle/>
          <a:p>
            <a:pPr indent="0" marL="0">
              <a:buNone/>
            </a:pPr>
            <a:r>
              <a:rPr lang="en-US" sz="2800" b="1" dirty="0">
                <a:solidFill>
                  <a:srgbClr val="37DCF2"/>
                </a:solidFill>
                <a:latin typeface="Consolas" pitchFamily="34" charset="0"/>
                <a:ea typeface="Consolas" pitchFamily="34" charset="-122"/>
                <a:cs typeface="Consolas" pitchFamily="34" charset="-120"/>
              </a:rPr>
              <a:t>02</a:t>
            </a:r>
            <a:endParaRPr lang="en-US" sz="2800" dirty="0"/>
          </a:p>
        </p:txBody>
      </p:sp>
      <p:sp>
        <p:nvSpPr>
          <p:cNvPr id="8" name="Text 6"/>
          <p:cNvSpPr/>
          <p:nvPr/>
        </p:nvSpPr>
        <p:spPr>
          <a:xfrm>
            <a:off x="1554480" y="3502152"/>
            <a:ext cx="9692640" cy="365760"/>
          </a:xfrm>
          <a:prstGeom prst="rect">
            <a:avLst/>
          </a:prstGeom>
          <a:noFill/>
          <a:ln/>
        </p:spPr>
        <p:txBody>
          <a:bodyPr wrap="square" lIns="0" tIns="0" rIns="0" bIns="0" rtlCol="0" anchor="ctr"/>
          <a:lstStyle/>
          <a:p>
            <a:pPr indent="0" marL="0">
              <a:buNone/>
            </a:pPr>
            <a:r>
              <a:rPr lang="en-US" sz="1900" b="1" dirty="0">
                <a:solidFill>
                  <a:srgbClr val="FFFFFF"/>
                </a:solidFill>
                <a:latin typeface="Segoe UI" pitchFamily="34" charset="0"/>
                <a:ea typeface="Segoe UI" pitchFamily="34" charset="-122"/>
                <a:cs typeface="Segoe UI" pitchFamily="34" charset="-120"/>
              </a:rPr>
              <a:t>Challenge C — 4.3</a:t>
            </a:r>
            <a:endParaRPr lang="en-US" sz="1900" dirty="0"/>
          </a:p>
        </p:txBody>
      </p:sp>
      <p:sp>
        <p:nvSpPr>
          <p:cNvPr id="9" name="Text 7"/>
          <p:cNvSpPr/>
          <p:nvPr/>
        </p:nvSpPr>
        <p:spPr>
          <a:xfrm>
            <a:off x="1554480" y="3886200"/>
            <a:ext cx="9692640" cy="731520"/>
          </a:xfrm>
          <a:prstGeom prst="rect">
            <a:avLst/>
          </a:prstGeom>
          <a:noFill/>
          <a:ln/>
        </p:spPr>
        <p:txBody>
          <a:bodyPr wrap="square" lIns="0" tIns="0" rIns="0" bIns="0" rtlCol="0" anchor="ctr"/>
          <a:lstStyle/>
          <a:p>
            <a:pPr indent="0" marL="0">
              <a:lnSpc>
                <a:spcPct val="112000"/>
              </a:lnSpc>
              <a:buNone/>
            </a:pPr>
            <a:r>
              <a:rPr lang="en-US" sz="1250" dirty="0">
                <a:solidFill>
                  <a:srgbClr val="DCE9EE"/>
                </a:solidFill>
                <a:latin typeface="Segoe UI" pitchFamily="34" charset="0"/>
                <a:ea typeface="Segoe UI" pitchFamily="34" charset="-122"/>
                <a:cs typeface="Segoe UI" pitchFamily="34" charset="-120"/>
              </a:rPr>
              <a:t>waf_alert.log: four audit transactions. Map the sections, find which one actually exfiltrated (the E section decides), name the rules that fired, and explain why the WAF watched everything and stopped nothing.</a:t>
            </a:r>
            <a:endParaRPr lang="en-US" sz="1250" dirty="0"/>
          </a:p>
        </p:txBody>
      </p:sp>
      <p:sp>
        <p:nvSpPr>
          <p:cNvPr id="10" name="Text 8"/>
          <p:cNvSpPr/>
          <p:nvPr/>
        </p:nvSpPr>
        <p:spPr>
          <a:xfrm>
            <a:off x="548640" y="4709160"/>
            <a:ext cx="868680" cy="594360"/>
          </a:xfrm>
          <a:prstGeom prst="rect">
            <a:avLst/>
          </a:prstGeom>
          <a:noFill/>
          <a:ln/>
        </p:spPr>
        <p:txBody>
          <a:bodyPr wrap="square" lIns="0" tIns="0" rIns="0" bIns="0" rtlCol="0" anchor="ctr"/>
          <a:lstStyle/>
          <a:p>
            <a:pPr indent="0" marL="0">
              <a:buNone/>
            </a:pPr>
            <a:r>
              <a:rPr lang="en-US" sz="2800" b="1" dirty="0">
                <a:solidFill>
                  <a:srgbClr val="37DCF2"/>
                </a:solidFill>
                <a:latin typeface="Consolas" pitchFamily="34" charset="0"/>
                <a:ea typeface="Consolas" pitchFamily="34" charset="-122"/>
                <a:cs typeface="Consolas" pitchFamily="34" charset="-120"/>
              </a:rPr>
              <a:t>03</a:t>
            </a:r>
            <a:endParaRPr lang="en-US" sz="2800" dirty="0"/>
          </a:p>
        </p:txBody>
      </p:sp>
      <p:sp>
        <p:nvSpPr>
          <p:cNvPr id="11" name="Text 9"/>
          <p:cNvSpPr/>
          <p:nvPr/>
        </p:nvSpPr>
        <p:spPr>
          <a:xfrm>
            <a:off x="1554480" y="4736592"/>
            <a:ext cx="9692640" cy="365760"/>
          </a:xfrm>
          <a:prstGeom prst="rect">
            <a:avLst/>
          </a:prstGeom>
          <a:noFill/>
          <a:ln/>
        </p:spPr>
        <p:txBody>
          <a:bodyPr wrap="square" lIns="0" tIns="0" rIns="0" bIns="0" rtlCol="0" anchor="ctr"/>
          <a:lstStyle/>
          <a:p>
            <a:pPr indent="0" marL="0">
              <a:buNone/>
            </a:pPr>
            <a:r>
              <a:rPr lang="en-US" sz="1900" b="1" dirty="0">
                <a:solidFill>
                  <a:srgbClr val="FFFFFF"/>
                </a:solidFill>
                <a:latin typeface="Segoe UI" pitchFamily="34" charset="0"/>
                <a:ea typeface="Segoe UI" pitchFamily="34" charset="-122"/>
                <a:cs typeface="Segoe UI" pitchFamily="34" charset="-120"/>
              </a:rPr>
              <a:t>Working paper</a:t>
            </a:r>
            <a:endParaRPr lang="en-US" sz="1900" dirty="0"/>
          </a:p>
        </p:txBody>
      </p:sp>
      <p:sp>
        <p:nvSpPr>
          <p:cNvPr id="12" name="Text 10"/>
          <p:cNvSpPr/>
          <p:nvPr/>
        </p:nvSpPr>
        <p:spPr>
          <a:xfrm>
            <a:off x="1554480" y="5120640"/>
            <a:ext cx="9692640" cy="731520"/>
          </a:xfrm>
          <a:prstGeom prst="rect">
            <a:avLst/>
          </a:prstGeom>
          <a:noFill/>
          <a:ln/>
        </p:spPr>
        <p:txBody>
          <a:bodyPr wrap="square" lIns="0" tIns="0" rIns="0" bIns="0" rtlCol="0" anchor="ctr"/>
          <a:lstStyle/>
          <a:p>
            <a:pPr indent="0" marL="0">
              <a:lnSpc>
                <a:spcPct val="112000"/>
              </a:lnSpc>
              <a:buNone/>
            </a:pPr>
            <a:r>
              <a:rPr lang="en-US" sz="1250" dirty="0">
                <a:solidFill>
                  <a:srgbClr val="DCE9EE"/>
                </a:solidFill>
                <a:latin typeface="Segoe UI" pitchFamily="34" charset="0"/>
                <a:ea typeface="Segoe UI" pitchFamily="34" charset="-122"/>
                <a:cs typeface="Segoe UI" pitchFamily="34" charset="-120"/>
              </a:rPr>
              <a:t>pre-lab first; staged hints in section 4; evidence numbering B-xx / C-xx; quote the exact log line for every claim.</a:t>
            </a:r>
            <a:endParaRPr lang="en-US" sz="1250" dirty="0"/>
          </a:p>
        </p:txBody>
      </p:sp>
      <p:sp>
        <p:nvSpPr>
          <p:cNvPr id="13" name="Text 11"/>
          <p:cNvSpPr/>
          <p:nvPr/>
        </p:nvSpPr>
        <p:spPr>
          <a:xfrm>
            <a:off x="548640" y="6035040"/>
            <a:ext cx="10515600" cy="320040"/>
          </a:xfrm>
          <a:prstGeom prst="rect">
            <a:avLst/>
          </a:prstGeom>
          <a:noFill/>
          <a:ln/>
        </p:spPr>
        <p:txBody>
          <a:bodyPr wrap="square" lIns="0" tIns="0" rIns="0" bIns="0" rtlCol="0" anchor="ctr"/>
          <a:lstStyle/>
          <a:p>
            <a:pPr indent="0" marL="0">
              <a:buNone/>
            </a:pPr>
            <a:r>
              <a:rPr lang="en-US" sz="1300" dirty="0">
                <a:solidFill>
                  <a:srgbClr val="5B7078"/>
                </a:solidFill>
                <a:latin typeface="Segoe UI" pitchFamily="34" charset="0"/>
                <a:ea typeface="Segoe UI" pitchFamily="34" charset="-122"/>
                <a:cs typeface="Segoe UI" pitchFamily="34" charset="-120"/>
              </a:rPr>
              <a:t>Stefanus Eko Prasetyo  ·  Digital Forensics Laboratory  ·  Lab-4</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 04 Deep Dive - Apache, ModSecurity and Log Triage Workflows</dc:title>
  <dc:subject>PptxGenJS Presentation</dc:subject>
  <dc:creator>Stefanus Eko Prasetyo</dc:creator>
  <cp:lastModifiedBy>Stefanus Eko Prasetyo</cp:lastModifiedBy>
  <cp:revision>1</cp:revision>
  <dcterms:created xsi:type="dcterms:W3CDTF">2026-09-28T12:46:55Z</dcterms:created>
  <dcterms:modified xsi:type="dcterms:W3CDTF">2026-09-28T12:46:55Z</dcterms:modified>
</cp:coreProperties>
</file>